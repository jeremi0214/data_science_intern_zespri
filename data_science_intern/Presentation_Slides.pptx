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21"/>
  </p:notesMasterIdLst>
  <p:sldIdLst>
    <p:sldId id="272" r:id="rId2"/>
    <p:sldId id="257" r:id="rId3"/>
    <p:sldId id="258" r:id="rId4"/>
    <p:sldId id="267" r:id="rId5"/>
    <p:sldId id="259" r:id="rId6"/>
    <p:sldId id="262" r:id="rId7"/>
    <p:sldId id="263" r:id="rId8"/>
    <p:sldId id="265" r:id="rId9"/>
    <p:sldId id="266" r:id="rId10"/>
    <p:sldId id="271" r:id="rId11"/>
    <p:sldId id="269" r:id="rId12"/>
    <p:sldId id="270" r:id="rId13"/>
    <p:sldId id="273" r:id="rId14"/>
    <p:sldId id="274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 Section" id="{26A8F4BE-4270-6F4F-A933-B5D04A7E1D77}">
          <p14:sldIdLst>
            <p14:sldId id="272"/>
            <p14:sldId id="257"/>
            <p14:sldId id="258"/>
            <p14:sldId id="267"/>
            <p14:sldId id="259"/>
            <p14:sldId id="262"/>
            <p14:sldId id="263"/>
            <p14:sldId id="265"/>
            <p14:sldId id="266"/>
            <p14:sldId id="271"/>
            <p14:sldId id="269"/>
            <p14:sldId id="270"/>
          </p14:sldIdLst>
        </p14:section>
        <p14:section name="Additional slides" id="{4C4705C9-1936-3E45-A8D4-3DD11D3C2163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09"/>
    <p:restoredTop sz="94383"/>
  </p:normalViewPr>
  <p:slideViewPr>
    <p:cSldViewPr snapToGrid="0">
      <p:cViewPr varScale="1">
        <p:scale>
          <a:sx n="122" d="100"/>
          <a:sy n="122" d="100"/>
        </p:scale>
        <p:origin x="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2E971-257D-9247-A60B-A42C4D48D015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FB27-F35C-934C-B3AB-9E6F6324A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FB27-F35C-934C-B3AB-9E6F6324AB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42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FB27-F35C-934C-B3AB-9E6F6324AB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3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words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FB27-F35C-934C-B3AB-9E6F6324AB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1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FB27-F35C-934C-B3AB-9E6F6324AB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20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FB27-F35C-934C-B3AB-9E6F6324AB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41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FB27-F35C-934C-B3AB-9E6F6324A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58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FB27-F35C-934C-B3AB-9E6F6324AB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7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5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8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1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2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2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8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3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2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3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4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549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39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4977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27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61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104D6-B260-1840-9310-206DE34A7891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48050F-DC18-CF47-98B2-AF3607DD0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6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C38979E-9461-ADB7-80B0-48B491222B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CDD890-99C6-A801-FC83-3302EABCC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76926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45845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901600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591174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354746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34024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269690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21628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45210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231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3448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10410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1ACE05DF-BB97-F291-DFD7-31AB40BCE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99021"/>
            <a:ext cx="6096000" cy="1071230"/>
          </a:xfrm>
        </p:spPr>
        <p:txBody>
          <a:bodyPr>
            <a:normAutofit/>
          </a:bodyPr>
          <a:lstStyle/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Optimising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Sampling Strategy for Accurate Kiwifruit Yield Estimation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35917A9-7D4C-10F8-CB27-3B4D18915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0629" y="4417827"/>
            <a:ext cx="6226629" cy="107123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Presented by: Jeremy (Yucheng) Chen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Supervisors: Dr. Sinead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Moylett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(UC), Goldie Leung (UC)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Industry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Partner: Dr.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Andrew Gilman (Zespri)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04E2C-2556-DF8F-15E4-29DBD95F3C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67" r="9607" b="40162"/>
          <a:stretch/>
        </p:blipFill>
        <p:spPr>
          <a:xfrm>
            <a:off x="10091057" y="5489057"/>
            <a:ext cx="2100943" cy="13689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ACE326-F004-2A3E-78C2-1CE85C07B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7608" y="5489057"/>
            <a:ext cx="2057775" cy="136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91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1B302A-3DA5-1306-471E-A906F012C739}"/>
              </a:ext>
            </a:extLst>
          </p:cNvPr>
          <p:cNvSpPr/>
          <p:nvPr/>
        </p:nvSpPr>
        <p:spPr>
          <a:xfrm>
            <a:off x="540000" y="0"/>
            <a:ext cx="55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E6235-E3D7-0F3A-A282-081E5BC3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0000"/>
            <a:ext cx="6120000" cy="7449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Current Sampling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AEB74-D225-7C3E-99DA-DBD21AE3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080000"/>
            <a:ext cx="4698700" cy="949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Digital Orchard Scanning technology</a:t>
            </a:r>
          </a:p>
        </p:txBody>
      </p:sp>
      <p:pic>
        <p:nvPicPr>
          <p:cNvPr id="8" name="Picture 5" descr="A picture containing indoor, outdoor object&#10;&#10;Description automatically generated">
            <a:extLst>
              <a:ext uri="{FF2B5EF4-FFF2-40B4-BE49-F238E27FC236}">
                <a16:creationId xmlns:a16="http://schemas.microsoft.com/office/drawing/2014/main" id="{5AC20C37-BC96-9984-7985-021A404F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5204666"/>
            <a:ext cx="8590495" cy="1096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BAFE68-4FCC-DA4D-A5BD-7F9EECAF0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900" y="1104900"/>
            <a:ext cx="4633951" cy="3022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D0532E-FACF-5388-6353-4FA5429B9D73}"/>
              </a:ext>
            </a:extLst>
          </p:cNvPr>
          <p:cNvSpPr txBox="1"/>
          <p:nvPr/>
        </p:nvSpPr>
        <p:spPr>
          <a:xfrm>
            <a:off x="540000" y="3596300"/>
            <a:ext cx="426690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objective</a:t>
            </a:r>
          </a:p>
          <a:p>
            <a:pPr marL="800100" lvl="1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Investigation of cost-effective alternatives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60A01-2B56-5D56-D64D-1EC1693044E1}"/>
              </a:ext>
            </a:extLst>
          </p:cNvPr>
          <p:cNvSpPr txBox="1"/>
          <p:nvPr/>
        </p:nvSpPr>
        <p:spPr>
          <a:xfrm>
            <a:off x="540000" y="1944749"/>
            <a:ext cx="4086429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Full-width scanning</a:t>
            </a:r>
          </a:p>
          <a:p>
            <a:pPr marL="800100" lvl="1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operational cost</a:t>
            </a:r>
          </a:p>
          <a:p>
            <a:pPr marL="800100" lvl="1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scalability</a:t>
            </a:r>
          </a:p>
        </p:txBody>
      </p:sp>
    </p:spTree>
    <p:extLst>
      <p:ext uri="{BB962C8B-B14F-4D97-AF65-F5344CB8AC3E}">
        <p14:creationId xmlns:p14="http://schemas.microsoft.com/office/powerpoint/2010/main" val="411764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F486D8-4075-237E-C8D9-32FC2FE4D21C}"/>
              </a:ext>
            </a:extLst>
          </p:cNvPr>
          <p:cNvSpPr/>
          <p:nvPr/>
        </p:nvSpPr>
        <p:spPr>
          <a:xfrm>
            <a:off x="557566" y="180000"/>
            <a:ext cx="609723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19AD643-46A1-4BA3-9742-B97C60738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0000"/>
            <a:ext cx="5289755" cy="68349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	Raw Data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BCA56DF-F0E5-6565-CBD9-95610901E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833" y="2560954"/>
            <a:ext cx="3549179" cy="82471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4,816 valid XML files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4F5940-EA89-F170-8A71-B81FD911D5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57" t="16209" r="21194" b="16340"/>
          <a:stretch/>
        </p:blipFill>
        <p:spPr bwMode="auto">
          <a:xfrm>
            <a:off x="531825" y="783804"/>
            <a:ext cx="5679008" cy="50008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DB3FFF-641D-7398-C6D8-F94AC241CE4E}"/>
              </a:ext>
            </a:extLst>
          </p:cNvPr>
          <p:cNvSpPr txBox="1"/>
          <p:nvPr/>
        </p:nvSpPr>
        <p:spPr>
          <a:xfrm>
            <a:off x="6210834" y="1043494"/>
            <a:ext cx="35491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Geospatial location data for each sampled row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FFC88-55BF-C1FE-BA3A-8E61599EA676}"/>
              </a:ext>
            </a:extLst>
          </p:cNvPr>
          <p:cNvSpPr txBox="1"/>
          <p:nvPr/>
        </p:nvSpPr>
        <p:spPr>
          <a:xfrm>
            <a:off x="6210836" y="3714821"/>
            <a:ext cx="3549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100 million kiwifruit points</a:t>
            </a:r>
          </a:p>
        </p:txBody>
      </p:sp>
    </p:spTree>
    <p:extLst>
      <p:ext uri="{BB962C8B-B14F-4D97-AF65-F5344CB8AC3E}">
        <p14:creationId xmlns:p14="http://schemas.microsoft.com/office/powerpoint/2010/main" val="385046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9A91-E8F7-2BE5-1A57-15623F3D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790E35C-4634-3C6D-AE4B-7C959023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0000"/>
            <a:ext cx="4550735" cy="6334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Data Processing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C005EFA-0C3F-D2CC-D18C-8E38243AA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629999" y="1497473"/>
            <a:ext cx="6848829" cy="5136622"/>
          </a:xfr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B860427-5E0D-92F7-ACC1-3DE03E684B9C}"/>
              </a:ext>
            </a:extLst>
          </p:cNvPr>
          <p:cNvSpPr txBox="1">
            <a:spLocks/>
          </p:cNvSpPr>
          <p:nvPr/>
        </p:nvSpPr>
        <p:spPr>
          <a:xfrm>
            <a:off x="630000" y="864000"/>
            <a:ext cx="7480000" cy="633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preprocessing workflow</a:t>
            </a:r>
          </a:p>
        </p:txBody>
      </p:sp>
    </p:spTree>
    <p:extLst>
      <p:ext uri="{BB962C8B-B14F-4D97-AF65-F5344CB8AC3E}">
        <p14:creationId xmlns:p14="http://schemas.microsoft.com/office/powerpoint/2010/main" val="92833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B497F6-CF0A-6CAB-E78A-4F24241A7F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" b="17319"/>
          <a:stretch/>
        </p:blipFill>
        <p:spPr>
          <a:xfrm>
            <a:off x="629997" y="1422644"/>
            <a:ext cx="7207838" cy="44610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F01F2ED-392B-9786-C67F-478FCB45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0000"/>
            <a:ext cx="3795823" cy="68349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	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4C6F4-A3DD-E6BF-571C-4B8338F1E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00" y="864000"/>
            <a:ext cx="7480000" cy="55864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Quadrat Sampling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EBC2C-6A28-6A69-0A4D-642947AA4DB6}"/>
              </a:ext>
            </a:extLst>
          </p:cNvPr>
          <p:cNvSpPr txBox="1"/>
          <p:nvPr/>
        </p:nvSpPr>
        <p:spPr>
          <a:xfrm>
            <a:off x="629994" y="2087546"/>
            <a:ext cx="6102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Row-Centre-Only Sampling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825104-526E-1725-5219-2856AD6BCB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00" t="39803" r="7271" b="29508"/>
          <a:stretch/>
        </p:blipFill>
        <p:spPr>
          <a:xfrm>
            <a:off x="629994" y="3107855"/>
            <a:ext cx="7207838" cy="20357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37A56E0-DA86-0ADB-1F7B-1E60622A4C33}"/>
              </a:ext>
            </a:extLst>
          </p:cNvPr>
          <p:cNvSpPr txBox="1"/>
          <p:nvPr/>
        </p:nvSpPr>
        <p:spPr>
          <a:xfrm>
            <a:off x="629994" y="3549601"/>
            <a:ext cx="7207837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Integration</a:t>
            </a:r>
          </a:p>
          <a:p>
            <a:pPr marL="800100" lvl="1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  <a:p>
            <a:pPr marL="800100" lvl="1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184145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C7DE4-FFCD-8443-F265-93D9163D0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00" y="4607999"/>
            <a:ext cx="8404654" cy="1596857"/>
          </a:xfrm>
        </p:spPr>
        <p:txBody>
          <a:bodyPr>
            <a:normAutofit/>
          </a:bodyPr>
          <a:lstStyle/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Larger quadrats tend to have lower variance.</a:t>
            </a:r>
          </a:p>
          <a:p>
            <a:pPr lvl="1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Optimal quadrat configuration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0104E2-60FE-EA49-6344-D99C6B0DE6AD}"/>
              </a:ext>
            </a:extLst>
          </p:cNvPr>
          <p:cNvSpPr txBox="1">
            <a:spLocks/>
          </p:cNvSpPr>
          <p:nvPr/>
        </p:nvSpPr>
        <p:spPr>
          <a:xfrm>
            <a:off x="0" y="180000"/>
            <a:ext cx="6784258" cy="683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 – Quadrat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02A58-946F-ACD6-03B8-31EF5A4ED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0000" y="1546988"/>
            <a:ext cx="8781476" cy="27656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34CE1A-8D44-4367-EFF0-5ED1B1A7548A}"/>
              </a:ext>
            </a:extLst>
          </p:cNvPr>
          <p:cNvSpPr/>
          <p:nvPr/>
        </p:nvSpPr>
        <p:spPr>
          <a:xfrm>
            <a:off x="630000" y="2069792"/>
            <a:ext cx="8509000" cy="279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78DA45-DA9E-B13A-672C-41A653BC58A8}"/>
              </a:ext>
            </a:extLst>
          </p:cNvPr>
          <p:cNvSpPr txBox="1"/>
          <p:nvPr/>
        </p:nvSpPr>
        <p:spPr>
          <a:xfrm>
            <a:off x="630000" y="863494"/>
            <a:ext cx="5255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Quadrat sampling result summary</a:t>
            </a:r>
          </a:p>
        </p:txBody>
      </p:sp>
    </p:spTree>
    <p:extLst>
      <p:ext uri="{BB962C8B-B14F-4D97-AF65-F5344CB8AC3E}">
        <p14:creationId xmlns:p14="http://schemas.microsoft.com/office/powerpoint/2010/main" val="17758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B426A9-6C52-AD66-F01B-18A0B0495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508300" y="1131475"/>
            <a:ext cx="8596312" cy="3613780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CDAEF4-0E4C-D2C8-A7D5-2ED903EA421F}"/>
              </a:ext>
            </a:extLst>
          </p:cNvPr>
          <p:cNvSpPr txBox="1">
            <a:spLocks/>
          </p:cNvSpPr>
          <p:nvPr/>
        </p:nvSpPr>
        <p:spPr>
          <a:xfrm>
            <a:off x="630000" y="4745255"/>
            <a:ext cx="8761634" cy="15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Overestimates density by 45.64% (significant bias)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variability against full-width sampling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B3BBE4B-A0E5-BB4E-C354-563D914C354B}"/>
              </a:ext>
            </a:extLst>
          </p:cNvPr>
          <p:cNvSpPr txBox="1">
            <a:spLocks/>
          </p:cNvSpPr>
          <p:nvPr/>
        </p:nvSpPr>
        <p:spPr>
          <a:xfrm>
            <a:off x="0" y="180000"/>
            <a:ext cx="9065342" cy="683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 – Row-Centre-Only Sampling</a:t>
            </a:r>
          </a:p>
        </p:txBody>
      </p:sp>
    </p:spTree>
    <p:extLst>
      <p:ext uri="{BB962C8B-B14F-4D97-AF65-F5344CB8AC3E}">
        <p14:creationId xmlns:p14="http://schemas.microsoft.com/office/powerpoint/2010/main" val="257993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25BE-DB93-283C-8621-BC01BA843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800" y="3689631"/>
            <a:ext cx="8596668" cy="1713319"/>
          </a:xfrm>
        </p:spPr>
        <p:txBody>
          <a:bodyPr>
            <a:normAutofit/>
          </a:bodyPr>
          <a:lstStyle/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High estimation accuracy (94.18%)</a:t>
            </a:r>
          </a:p>
          <a:p>
            <a:pPr lvl="1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Linear Regression overperforms Random Forest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78190-12D5-2B0C-F314-0C3D43BAA4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0001" y="1455050"/>
            <a:ext cx="9055894" cy="20611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B7BF0C7-6A80-D448-FD8F-EF0C106DE4A4}"/>
              </a:ext>
            </a:extLst>
          </p:cNvPr>
          <p:cNvSpPr txBox="1">
            <a:spLocks/>
          </p:cNvSpPr>
          <p:nvPr/>
        </p:nvSpPr>
        <p:spPr>
          <a:xfrm>
            <a:off x="0" y="180000"/>
            <a:ext cx="9488129" cy="683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 – Machine Learning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C925D-FA3C-EE19-3B5B-256F1BD9131E}"/>
              </a:ext>
            </a:extLst>
          </p:cNvPr>
          <p:cNvSpPr txBox="1"/>
          <p:nvPr/>
        </p:nvSpPr>
        <p:spPr>
          <a:xfrm>
            <a:off x="630000" y="863494"/>
            <a:ext cx="5046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79572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A43485-8377-CF38-5C88-33FD2D270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9186" y="1440794"/>
            <a:ext cx="8148705" cy="43755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61862-8373-564E-808F-F581D34D4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7" y="863494"/>
            <a:ext cx="7206215" cy="57730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 importance (Linear Regression)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083902-06B5-4C68-B84A-EFD18170CA4D}"/>
              </a:ext>
            </a:extLst>
          </p:cNvPr>
          <p:cNvSpPr txBox="1">
            <a:spLocks/>
          </p:cNvSpPr>
          <p:nvPr/>
        </p:nvSpPr>
        <p:spPr>
          <a:xfrm>
            <a:off x="0" y="180000"/>
            <a:ext cx="9488129" cy="683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 – Machine Learning Integration</a:t>
            </a:r>
          </a:p>
        </p:txBody>
      </p:sp>
    </p:spTree>
    <p:extLst>
      <p:ext uri="{BB962C8B-B14F-4D97-AF65-F5344CB8AC3E}">
        <p14:creationId xmlns:p14="http://schemas.microsoft.com/office/powerpoint/2010/main" val="340458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72371-26CF-F494-855B-D1541DFC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02D6B75-56BC-562C-E4EF-52F5760E7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0000" y="1380808"/>
            <a:ext cx="7887278" cy="461319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7B36AA-D6D6-1587-6353-1073B29138FC}"/>
              </a:ext>
            </a:extLst>
          </p:cNvPr>
          <p:cNvSpPr txBox="1">
            <a:spLocks/>
          </p:cNvSpPr>
          <p:nvPr/>
        </p:nvSpPr>
        <p:spPr>
          <a:xfrm>
            <a:off x="630000" y="864000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 importance (Random Forest)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848FBD7-40FB-0AEA-B0DA-46D0BF29A4EB}"/>
              </a:ext>
            </a:extLst>
          </p:cNvPr>
          <p:cNvSpPr txBox="1">
            <a:spLocks/>
          </p:cNvSpPr>
          <p:nvPr/>
        </p:nvSpPr>
        <p:spPr>
          <a:xfrm>
            <a:off x="0" y="180000"/>
            <a:ext cx="9488129" cy="6834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 – Machine Learning Integration</a:t>
            </a:r>
          </a:p>
        </p:txBody>
      </p:sp>
    </p:spTree>
    <p:extLst>
      <p:ext uri="{BB962C8B-B14F-4D97-AF65-F5344CB8AC3E}">
        <p14:creationId xmlns:p14="http://schemas.microsoft.com/office/powerpoint/2010/main" val="421678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5000"/>
            <a:lum/>
          </a:blip>
          <a:srcRect/>
          <a:stretch>
            <a:fillRect l="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195268C-CA5D-AC7E-D91C-C6A5E92CD602}"/>
              </a:ext>
            </a:extLst>
          </p:cNvPr>
          <p:cNvSpPr/>
          <p:nvPr/>
        </p:nvSpPr>
        <p:spPr>
          <a:xfrm>
            <a:off x="540000" y="0"/>
            <a:ext cx="612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Incorporative sensitive analysis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Comparison between random, stratified and systematic quadrat sampling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Geospatial analysis of sampling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0479-88CA-097D-5101-5A0C51511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00" y="864000"/>
            <a:ext cx="5870950" cy="15563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hybrid sampling strategy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Integrate sampling results with machine learning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DEF8F-981A-A192-A3CA-3E8039F7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0000"/>
            <a:ext cx="8911687" cy="70338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	Conclusion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F2463A-7FF9-3848-5359-8700637527BF}"/>
              </a:ext>
            </a:extLst>
          </p:cNvPr>
          <p:cNvSpPr txBox="1"/>
          <p:nvPr/>
        </p:nvSpPr>
        <p:spPr>
          <a:xfrm>
            <a:off x="630000" y="3600000"/>
            <a:ext cx="5984277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Cost-benefit analysis</a:t>
            </a:r>
          </a:p>
        </p:txBody>
      </p:sp>
    </p:spTree>
    <p:extLst>
      <p:ext uri="{BB962C8B-B14F-4D97-AF65-F5344CB8AC3E}">
        <p14:creationId xmlns:p14="http://schemas.microsoft.com/office/powerpoint/2010/main" val="124148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1898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1AD8-04F7-4F40-A37B-216CDCF0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45547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1A02C-EFAF-36EE-F0AC-C55B5487B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798471"/>
            <a:ext cx="8596668" cy="19793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08626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8F0572-C6A6-C020-64BF-55795C4BE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8" name="Picture 1">
            <a:extLst>
              <a:ext uri="{FF2B5EF4-FFF2-40B4-BE49-F238E27FC236}">
                <a16:creationId xmlns:a16="http://schemas.microsoft.com/office/drawing/2014/main" id="{E41258AE-EED3-5E6A-EA6E-10FEC3419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87" y="1102500"/>
            <a:ext cx="8359275" cy="437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A20F99-F63F-1B6B-C543-62C8792C69A4}"/>
              </a:ext>
            </a:extLst>
          </p:cNvPr>
          <p:cNvSpPr txBox="1">
            <a:spLocks/>
          </p:cNvSpPr>
          <p:nvPr/>
        </p:nvSpPr>
        <p:spPr>
          <a:xfrm>
            <a:off x="0" y="463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Visual example of 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080598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06272B-09BC-5EE5-D263-E986C55D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" y="945651"/>
            <a:ext cx="9311209" cy="135448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F24609-B10B-9DA5-E80D-2E9FD40CB510}"/>
              </a:ext>
            </a:extLst>
          </p:cNvPr>
          <p:cNvSpPr txBox="1">
            <a:spLocks/>
          </p:cNvSpPr>
          <p:nvPr/>
        </p:nvSpPr>
        <p:spPr>
          <a:xfrm>
            <a:off x="0" y="463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Dataset – after preprocessing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94EC97-99E3-FA36-DA94-95C1E8343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68" y="3107264"/>
            <a:ext cx="9290085" cy="258652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410554-E5D5-9246-18A8-E6375D9C6836}"/>
              </a:ext>
            </a:extLst>
          </p:cNvPr>
          <p:cNvSpPr txBox="1">
            <a:spLocks/>
          </p:cNvSpPr>
          <p:nvPr/>
        </p:nvSpPr>
        <p:spPr>
          <a:xfrm>
            <a:off x="0" y="244529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summary</a:t>
            </a:r>
          </a:p>
        </p:txBody>
      </p:sp>
    </p:spTree>
    <p:extLst>
      <p:ext uri="{BB962C8B-B14F-4D97-AF65-F5344CB8AC3E}">
        <p14:creationId xmlns:p14="http://schemas.microsoft.com/office/powerpoint/2010/main" val="1250607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4E5AA1-FE7C-3AA8-CC42-DF49912240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" t="5722" r="10362" b="4672"/>
          <a:stretch/>
        </p:blipFill>
        <p:spPr bwMode="auto">
          <a:xfrm>
            <a:off x="488798" y="521446"/>
            <a:ext cx="7505132" cy="5784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40B831-6FA8-E921-DFCA-CF4E8FBA1EA9}"/>
              </a:ext>
            </a:extLst>
          </p:cNvPr>
          <p:cNvSpPr txBox="1">
            <a:spLocks/>
          </p:cNvSpPr>
          <p:nvPr/>
        </p:nvSpPr>
        <p:spPr>
          <a:xfrm>
            <a:off x="0" y="463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Correlations of variables</a:t>
            </a:r>
          </a:p>
        </p:txBody>
      </p:sp>
    </p:spTree>
    <p:extLst>
      <p:ext uri="{BB962C8B-B14F-4D97-AF65-F5344CB8AC3E}">
        <p14:creationId xmlns:p14="http://schemas.microsoft.com/office/powerpoint/2010/main" val="32075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80471F-A4A3-A6C9-E517-5C73BC7A2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44" y="615714"/>
            <a:ext cx="9179890" cy="322099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E0BDAD-183A-9F38-2C86-3597D3AE2831}"/>
              </a:ext>
            </a:extLst>
          </p:cNvPr>
          <p:cNvSpPr txBox="1">
            <a:spLocks/>
          </p:cNvSpPr>
          <p:nvPr/>
        </p:nvSpPr>
        <p:spPr>
          <a:xfrm>
            <a:off x="0" y="463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Spatial distribution of points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B006A-D9C3-4612-65C7-286CBF7B49D7}"/>
              </a:ext>
            </a:extLst>
          </p:cNvPr>
          <p:cNvSpPr txBox="1"/>
          <p:nvPr/>
        </p:nvSpPr>
        <p:spPr>
          <a:xfrm>
            <a:off x="530129" y="3930978"/>
            <a:ext cx="9047504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X-coordinates: denser near the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sparser towards the edges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Y-coordinates: fluctuated spatial variable along the row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Z-coordinates: minimal vertical variance</a:t>
            </a:r>
          </a:p>
        </p:txBody>
      </p:sp>
    </p:spTree>
    <p:extLst>
      <p:ext uri="{BB962C8B-B14F-4D97-AF65-F5344CB8AC3E}">
        <p14:creationId xmlns:p14="http://schemas.microsoft.com/office/powerpoint/2010/main" val="7370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21FC53-32F9-EC6A-9116-900447C79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75" y="691128"/>
            <a:ext cx="6058817" cy="31112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6636FE-D31C-7252-92F2-401E46419562}"/>
              </a:ext>
            </a:extLst>
          </p:cNvPr>
          <p:cNvSpPr txBox="1">
            <a:spLocks/>
          </p:cNvSpPr>
          <p:nvPr/>
        </p:nvSpPr>
        <p:spPr>
          <a:xfrm>
            <a:off x="0" y="463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Quadrat configurations (to be tested)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36BA4-E6EF-2C43-0CA6-254902E0394D}"/>
              </a:ext>
            </a:extLst>
          </p:cNvPr>
          <p:cNvSpPr txBox="1"/>
          <p:nvPr/>
        </p:nvSpPr>
        <p:spPr>
          <a:xfrm>
            <a:off x="690775" y="4421899"/>
            <a:ext cx="6122708" cy="109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A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Metric for evaluation: </a:t>
            </a:r>
            <a:r>
              <a:rPr lang="en-AU" sz="2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Mean Square Error (MSE)</a:t>
            </a:r>
          </a:p>
          <a:p>
            <a:pPr algn="ctr">
              <a:lnSpc>
                <a:spcPct val="115000"/>
              </a:lnSpc>
            </a:pPr>
            <a:endParaRPr lang="en-AU" sz="1800" i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AU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Mean Square Error = Bias² + Variance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387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921F82-47EA-0AF8-B07C-0F56784D90AF}"/>
              </a:ext>
            </a:extLst>
          </p:cNvPr>
          <p:cNvSpPr txBox="1">
            <a:spLocks/>
          </p:cNvSpPr>
          <p:nvPr/>
        </p:nvSpPr>
        <p:spPr>
          <a:xfrm>
            <a:off x="0" y="463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Quadrat configurations test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670CC7-EA2D-6181-CFCD-01D68202D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19" y="521446"/>
            <a:ext cx="5663966" cy="615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55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E41F99-1ACF-EF92-699F-C0B556DF4226}"/>
              </a:ext>
            </a:extLst>
          </p:cNvPr>
          <p:cNvSpPr txBox="1">
            <a:spLocks/>
          </p:cNvSpPr>
          <p:nvPr/>
        </p:nvSpPr>
        <p:spPr>
          <a:xfrm>
            <a:off x="0" y="4638"/>
            <a:ext cx="6570947" cy="516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Additional ML experiments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1F317C-0F7B-714B-5A82-45BE3711094B}"/>
              </a:ext>
            </a:extLst>
          </p:cNvPr>
          <p:cNvSpPr txBox="1">
            <a:spLocks/>
          </p:cNvSpPr>
          <p:nvPr/>
        </p:nvSpPr>
        <p:spPr>
          <a:xfrm>
            <a:off x="489858" y="521446"/>
            <a:ext cx="6570947" cy="609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Outliner removal (IQR method)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8625C7-5B85-4512-A183-9A8F8F6AE731}"/>
              </a:ext>
            </a:extLst>
          </p:cNvPr>
          <p:cNvSpPr txBox="1">
            <a:spLocks/>
          </p:cNvSpPr>
          <p:nvPr/>
        </p:nvSpPr>
        <p:spPr>
          <a:xfrm>
            <a:off x="489857" y="5371051"/>
            <a:ext cx="6570947" cy="965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Results of all experiments confirmed robustness of both models.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65C4AB-0C26-C7D6-D3C5-8379BD87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973" y="1108790"/>
            <a:ext cx="6743700" cy="140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67A209-382A-6695-C160-6D2D04A06F80}"/>
              </a:ext>
            </a:extLst>
          </p:cNvPr>
          <p:cNvSpPr txBox="1"/>
          <p:nvPr/>
        </p:nvSpPr>
        <p:spPr>
          <a:xfrm>
            <a:off x="489858" y="2812060"/>
            <a:ext cx="6122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 search for RF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5B5C1-5C0F-C238-8411-5FB4198AF4D6}"/>
              </a:ext>
            </a:extLst>
          </p:cNvPr>
          <p:cNvSpPr txBox="1"/>
          <p:nvPr/>
        </p:nvSpPr>
        <p:spPr>
          <a:xfrm>
            <a:off x="489858" y="3536882"/>
            <a:ext cx="6122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5-fold cross-validation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530A62-E336-7C3D-59C7-A4E5AB8B8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23" y="4127939"/>
            <a:ext cx="6570946" cy="111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171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EAB4DF-2B31-774A-B08B-E5BDAE1EFDC5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{B8D6FE05-0E5D-2A46-8593-8EE325D72A01}tf10001060</Template>
  <TotalTime>16389</TotalTime>
  <Words>334</Words>
  <Application>Microsoft Macintosh PowerPoint</Application>
  <PresentationFormat>Widescreen</PresentationFormat>
  <Paragraphs>80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Optimising Sampling Strategy for Accurate Kiwifruit Yield Estimation</vt:lpstr>
      <vt:lpstr> Current Sampling Strategy</vt:lpstr>
      <vt:lpstr> Raw Data</vt:lpstr>
      <vt:lpstr> Data Processing</vt:lpstr>
      <vt:lpstr>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Chen</dc:creator>
  <cp:lastModifiedBy>Jeremy Chen</cp:lastModifiedBy>
  <cp:revision>8</cp:revision>
  <dcterms:created xsi:type="dcterms:W3CDTF">2025-01-19T22:29:44Z</dcterms:created>
  <dcterms:modified xsi:type="dcterms:W3CDTF">2025-02-03T04:56:09Z</dcterms:modified>
</cp:coreProperties>
</file>