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12"/>
  </p:notesMasterIdLst>
  <p:sldIdLst>
    <p:sldId id="272" r:id="rId2"/>
    <p:sldId id="257" r:id="rId3"/>
    <p:sldId id="258" r:id="rId4"/>
    <p:sldId id="267" r:id="rId5"/>
    <p:sldId id="273" r:id="rId6"/>
    <p:sldId id="280" r:id="rId7"/>
    <p:sldId id="259" r:id="rId8"/>
    <p:sldId id="281" r:id="rId9"/>
    <p:sldId id="282" r:id="rId10"/>
    <p:sldId id="27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Section" id="{26A8F4BE-4270-6F4F-A933-B5D04A7E1D77}">
          <p14:sldIdLst>
            <p14:sldId id="272"/>
            <p14:sldId id="257"/>
            <p14:sldId id="258"/>
            <p14:sldId id="267"/>
            <p14:sldId id="273"/>
            <p14:sldId id="280"/>
            <p14:sldId id="259"/>
            <p14:sldId id="281"/>
            <p14:sldId id="282"/>
            <p14:sldId id="270"/>
          </p14:sldIdLst>
        </p14:section>
        <p14:section name="Additional slides" id="{4C4705C9-1936-3E45-A8D4-3DD11D3C21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23"/>
    <p:restoredTop sz="90408"/>
  </p:normalViewPr>
  <p:slideViewPr>
    <p:cSldViewPr snapToGrid="0">
      <p:cViewPr varScale="1">
        <p:scale>
          <a:sx n="115" d="100"/>
          <a:sy n="115" d="100"/>
        </p:scale>
        <p:origin x="129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02E971-257D-9247-A60B-A42C4D48D015}" type="datetimeFigureOut">
              <a:rPr lang="en-US" smtClean="0"/>
              <a:t>10/13/25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56FB27-F35C-934C-B3AB-9E6F6324AB45}" type="slidenum">
              <a:rPr lang="en-US" smtClean="0"/>
              <a:t>‹#›</a:t>
            </a:fld>
            <a:endParaRPr lang="en-US"/>
          </a:p>
        </p:txBody>
      </p:sp>
    </p:spTree>
    <p:extLst>
      <p:ext uri="{BB962C8B-B14F-4D97-AF65-F5344CB8AC3E}">
        <p14:creationId xmlns:p14="http://schemas.microsoft.com/office/powerpoint/2010/main" val="385454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56FB27-F35C-934C-B3AB-9E6F6324AB45}" type="slidenum">
              <a:rPr lang="en-US" smtClean="0"/>
              <a:t>1</a:t>
            </a:fld>
            <a:endParaRPr lang="en-US"/>
          </a:p>
        </p:txBody>
      </p:sp>
    </p:spTree>
    <p:extLst>
      <p:ext uri="{BB962C8B-B14F-4D97-AF65-F5344CB8AC3E}">
        <p14:creationId xmlns:p14="http://schemas.microsoft.com/office/powerpoint/2010/main" val="4213542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Currently, Zespri relies on Digital Orchard Scanning technology, which uses high-resolution cameras mounted on all-purposed vehicles to collect sample data</a:t>
            </a:r>
            <a:r>
              <a:rPr lang="en-NZ" sz="1200"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When the vehicle goes underneath canopies, the cameras capture images like this. Fruit will be detected and counted. Yield will be measured using fruit density, which is the number of fruits per square metre.</a:t>
            </a:r>
            <a:r>
              <a:rPr lang="en-NZ" dirty="0">
                <a:effectLst/>
              </a:rPr>
              <a:t> </a:t>
            </a:r>
            <a:r>
              <a:rPr lang="en-AU" sz="1200" kern="1200" dirty="0">
                <a:solidFill>
                  <a:schemeClr val="tx1"/>
                </a:solidFill>
                <a:effectLst/>
                <a:latin typeface="+mn-lt"/>
                <a:ea typeface="+mn-ea"/>
                <a:cs typeface="+mn-cs"/>
              </a:rPr>
              <a:t>The current sampling strategy scans the full-width of each sampled row, and need to cover approximately 10% of the total orchard area within a three-week window. This brings up the challenge as this technology is resource-intensive, time-consuming and costly, and it is running at full capacity.</a:t>
            </a:r>
            <a:r>
              <a:rPr lang="en-NZ" dirty="0">
                <a:effectLst/>
              </a:rPr>
              <a:t> </a:t>
            </a:r>
            <a:endParaRPr lang="en-US" dirty="0"/>
          </a:p>
        </p:txBody>
      </p:sp>
      <p:sp>
        <p:nvSpPr>
          <p:cNvPr id="4" name="Slide Number Placeholder 3"/>
          <p:cNvSpPr>
            <a:spLocks noGrp="1"/>
          </p:cNvSpPr>
          <p:nvPr>
            <p:ph type="sldNum" sz="quarter" idx="5"/>
          </p:nvPr>
        </p:nvSpPr>
        <p:spPr/>
        <p:txBody>
          <a:bodyPr/>
          <a:lstStyle/>
          <a:p>
            <a:fld id="{6C56FB27-F35C-934C-B3AB-9E6F6324AB45}" type="slidenum">
              <a:rPr lang="en-US" smtClean="0"/>
              <a:t>2</a:t>
            </a:fld>
            <a:endParaRPr lang="en-US"/>
          </a:p>
        </p:txBody>
      </p:sp>
    </p:spTree>
    <p:extLst>
      <p:ext uri="{BB962C8B-B14F-4D97-AF65-F5344CB8AC3E}">
        <p14:creationId xmlns:p14="http://schemas.microsoft.com/office/powerpoint/2010/main" val="406773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The raw data provided by Zespri contains geospatial locations stored in XML files. Each file represents a single sampled row and includes two geometric components: one is polygon, which defines the row boundary, and the other is points, which mark the geospatial locations of individual kiwifruit. </a:t>
            </a:r>
            <a:endParaRPr lang="en-US" dirty="0"/>
          </a:p>
        </p:txBody>
      </p:sp>
      <p:sp>
        <p:nvSpPr>
          <p:cNvPr id="4" name="Slide Number Placeholder 3"/>
          <p:cNvSpPr>
            <a:spLocks noGrp="1"/>
          </p:cNvSpPr>
          <p:nvPr>
            <p:ph type="sldNum" sz="quarter" idx="5"/>
          </p:nvPr>
        </p:nvSpPr>
        <p:spPr/>
        <p:txBody>
          <a:bodyPr/>
          <a:lstStyle/>
          <a:p>
            <a:fld id="{6C56FB27-F35C-934C-B3AB-9E6F6324AB45}" type="slidenum">
              <a:rPr lang="en-US" smtClean="0"/>
              <a:t>3</a:t>
            </a:fld>
            <a:endParaRPr lang="en-US"/>
          </a:p>
        </p:txBody>
      </p:sp>
    </p:spTree>
    <p:extLst>
      <p:ext uri="{BB962C8B-B14F-4D97-AF65-F5344CB8AC3E}">
        <p14:creationId xmlns:p14="http://schemas.microsoft.com/office/powerpoint/2010/main" val="330571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NZ" sz="1200" kern="1200" dirty="0">
                <a:solidFill>
                  <a:schemeClr val="tx1"/>
                </a:solidFill>
                <a:effectLst/>
                <a:latin typeface="+mn-lt"/>
                <a:ea typeface="+mn-ea"/>
                <a:cs typeface="+mn-cs"/>
              </a:rPr>
              <a:t>First, we need to extract the coordinates of the polygon boundaries and kiwifruit points from each XML file.</a:t>
            </a:r>
          </a:p>
          <a:p>
            <a:pPr marL="228600" indent="-228600">
              <a:buAutoNum type="arabicPeriod"/>
            </a:pPr>
            <a:r>
              <a:rPr lang="en-NZ" sz="1200" kern="1200" dirty="0">
                <a:solidFill>
                  <a:schemeClr val="tx1"/>
                </a:solidFill>
                <a:effectLst/>
                <a:latin typeface="+mn-lt"/>
                <a:ea typeface="+mn-ea"/>
                <a:cs typeface="+mn-cs"/>
              </a:rPr>
              <a:t>Next, we use the minimum bounding rectangle function from shapely to simplify complex shape of polygons. The corner coordinates can be used to define row length and width.</a:t>
            </a:r>
          </a:p>
          <a:p>
            <a:pPr marL="228600" indent="-228600">
              <a:buAutoNum type="arabicPeriod"/>
            </a:pPr>
            <a:r>
              <a:rPr lang="en-NZ" sz="1200" kern="1200" dirty="0">
                <a:solidFill>
                  <a:schemeClr val="tx1"/>
                </a:solidFill>
                <a:effectLst/>
                <a:latin typeface="+mn-lt"/>
                <a:ea typeface="+mn-ea"/>
                <a:cs typeface="+mn-cs"/>
              </a:rPr>
              <a:t>Then, we convert the GPS coordinates to projected coordinates for measurements of area and distance. </a:t>
            </a:r>
          </a:p>
          <a:p>
            <a:pPr marL="228600" indent="-228600">
              <a:buAutoNum type="arabicPeriod"/>
            </a:pPr>
            <a:r>
              <a:rPr lang="en-NZ" sz="1200" kern="1200" dirty="0">
                <a:solidFill>
                  <a:schemeClr val="tx1"/>
                </a:solidFill>
                <a:effectLst/>
                <a:latin typeface="+mn-lt"/>
                <a:ea typeface="+mn-ea"/>
                <a:cs typeface="+mn-cs"/>
              </a:rPr>
              <a:t>Last, we rotate and transform coordinates to X-Y origin system, for easy calculation</a:t>
            </a:r>
          </a:p>
          <a:p>
            <a:pPr marL="228600" indent="-228600">
              <a:buAutoNum type="arabicPeriod"/>
            </a:pPr>
            <a:r>
              <a:rPr lang="en-NZ" sz="1200" kern="1200" dirty="0">
                <a:solidFill>
                  <a:schemeClr val="tx1"/>
                </a:solidFill>
                <a:effectLst/>
                <a:latin typeface="+mn-lt"/>
                <a:ea typeface="+mn-ea"/>
                <a:cs typeface="+mn-cs"/>
              </a:rPr>
              <a:t>Once completed, we save the all results into parquet files for downstream tasks.</a:t>
            </a:r>
          </a:p>
          <a:p>
            <a:pPr marL="228600" indent="-228600">
              <a:buAutoNum type="arabicPeriod"/>
            </a:pPr>
            <a:endParaRPr lang="en-NZ" sz="1200" kern="1200" dirty="0">
              <a:solidFill>
                <a:schemeClr val="tx1"/>
              </a:solidFill>
              <a:effectLst/>
              <a:latin typeface="+mn-lt"/>
              <a:ea typeface="+mn-ea"/>
              <a:cs typeface="+mn-cs"/>
            </a:endParaRPr>
          </a:p>
          <a:p>
            <a:endParaRPr lang="en-NZ"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6C56FB27-F35C-934C-B3AB-9E6F6324AB45}" type="slidenum">
              <a:rPr lang="en-US" smtClean="0"/>
              <a:t>4</a:t>
            </a:fld>
            <a:endParaRPr lang="en-US"/>
          </a:p>
        </p:txBody>
      </p:sp>
    </p:spTree>
    <p:extLst>
      <p:ext uri="{BB962C8B-B14F-4D97-AF65-F5344CB8AC3E}">
        <p14:creationId xmlns:p14="http://schemas.microsoft.com/office/powerpoint/2010/main" val="2740720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278C6-E136-DFAF-4F41-8D3EB1D96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F8232-E538-0654-3577-821EC35C2D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FB62A-7584-9149-9B92-9BC67C71B5AD}"/>
              </a:ext>
            </a:extLst>
          </p:cNvPr>
          <p:cNvSpPr>
            <a:spLocks noGrp="1"/>
          </p:cNvSpPr>
          <p:nvPr>
            <p:ph type="body" idx="1"/>
          </p:nvPr>
        </p:nvSpPr>
        <p:spPr/>
        <p:txBody>
          <a:bodyPr/>
          <a:lstStyle/>
          <a:p>
            <a:pPr marL="228600" indent="-228600">
              <a:buAutoNum type="arabicPeriod"/>
            </a:pPr>
            <a:r>
              <a:rPr lang="en-NZ" sz="1200" kern="1200" dirty="0">
                <a:solidFill>
                  <a:schemeClr val="tx1"/>
                </a:solidFill>
                <a:effectLst/>
                <a:latin typeface="+mn-lt"/>
                <a:ea typeface="+mn-ea"/>
                <a:cs typeface="+mn-cs"/>
              </a:rPr>
              <a:t>First, we need to extract the coordinates of the polygon boundaries and kiwifruit points from each XML file.</a:t>
            </a:r>
          </a:p>
          <a:p>
            <a:pPr marL="228600" indent="-228600">
              <a:buAutoNum type="arabicPeriod"/>
            </a:pPr>
            <a:r>
              <a:rPr lang="en-NZ" sz="1200" kern="1200" dirty="0">
                <a:solidFill>
                  <a:schemeClr val="tx1"/>
                </a:solidFill>
                <a:effectLst/>
                <a:latin typeface="+mn-lt"/>
                <a:ea typeface="+mn-ea"/>
                <a:cs typeface="+mn-cs"/>
              </a:rPr>
              <a:t>Next, we use the minimum bounding rectangle function from shapely to simplify complex shape of polygons. The corner coordinates can be used to define row length and width.</a:t>
            </a:r>
          </a:p>
          <a:p>
            <a:pPr marL="228600" indent="-228600">
              <a:buAutoNum type="arabicPeriod"/>
            </a:pPr>
            <a:r>
              <a:rPr lang="en-NZ" sz="1200" kern="1200" dirty="0">
                <a:solidFill>
                  <a:schemeClr val="tx1"/>
                </a:solidFill>
                <a:effectLst/>
                <a:latin typeface="+mn-lt"/>
                <a:ea typeface="+mn-ea"/>
                <a:cs typeface="+mn-cs"/>
              </a:rPr>
              <a:t>Then, we convert the GPS coordinates to projected coordinates for measurements of area and distance. </a:t>
            </a:r>
          </a:p>
          <a:p>
            <a:pPr marL="228600" indent="-228600">
              <a:buAutoNum type="arabicPeriod"/>
            </a:pPr>
            <a:r>
              <a:rPr lang="en-NZ" sz="1200" kern="1200" dirty="0">
                <a:solidFill>
                  <a:schemeClr val="tx1"/>
                </a:solidFill>
                <a:effectLst/>
                <a:latin typeface="+mn-lt"/>
                <a:ea typeface="+mn-ea"/>
                <a:cs typeface="+mn-cs"/>
              </a:rPr>
              <a:t>Last, we rotate and transform coordinates to X-Y origin system, for easy calculation</a:t>
            </a:r>
          </a:p>
          <a:p>
            <a:pPr marL="228600" indent="-228600">
              <a:buAutoNum type="arabicPeriod"/>
            </a:pPr>
            <a:r>
              <a:rPr lang="en-NZ" sz="1200" kern="1200" dirty="0">
                <a:solidFill>
                  <a:schemeClr val="tx1"/>
                </a:solidFill>
                <a:effectLst/>
                <a:latin typeface="+mn-lt"/>
                <a:ea typeface="+mn-ea"/>
                <a:cs typeface="+mn-cs"/>
              </a:rPr>
              <a:t>Once completed, we save the all results into parquet files for downstream tasks.</a:t>
            </a:r>
          </a:p>
          <a:p>
            <a:pPr marL="228600" indent="-228600">
              <a:buAutoNum type="arabicPeriod"/>
            </a:pPr>
            <a:endParaRPr lang="en-NZ" sz="1200" kern="1200" dirty="0">
              <a:solidFill>
                <a:schemeClr val="tx1"/>
              </a:solidFill>
              <a:effectLst/>
              <a:latin typeface="+mn-lt"/>
              <a:ea typeface="+mn-ea"/>
              <a:cs typeface="+mn-cs"/>
            </a:endParaRPr>
          </a:p>
          <a:p>
            <a:endParaRPr lang="en-NZ"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B39B3F8-BBC8-71D3-BE30-84D1D9F3D115}"/>
              </a:ext>
            </a:extLst>
          </p:cNvPr>
          <p:cNvSpPr>
            <a:spLocks noGrp="1"/>
          </p:cNvSpPr>
          <p:nvPr>
            <p:ph type="sldNum" sz="quarter" idx="5"/>
          </p:nvPr>
        </p:nvSpPr>
        <p:spPr/>
        <p:txBody>
          <a:bodyPr/>
          <a:lstStyle/>
          <a:p>
            <a:fld id="{6C56FB27-F35C-934C-B3AB-9E6F6324AB45}" type="slidenum">
              <a:rPr lang="en-US" smtClean="0"/>
              <a:t>6</a:t>
            </a:fld>
            <a:endParaRPr lang="en-US"/>
          </a:p>
        </p:txBody>
      </p:sp>
    </p:spTree>
    <p:extLst>
      <p:ext uri="{BB962C8B-B14F-4D97-AF65-F5344CB8AC3E}">
        <p14:creationId xmlns:p14="http://schemas.microsoft.com/office/powerpoint/2010/main" val="29551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56FB27-F35C-934C-B3AB-9E6F6324AB45}" type="slidenum">
              <a:rPr lang="en-US" smtClean="0"/>
              <a:t>7</a:t>
            </a:fld>
            <a:endParaRPr lang="en-US"/>
          </a:p>
        </p:txBody>
      </p:sp>
    </p:spTree>
    <p:extLst>
      <p:ext uri="{BB962C8B-B14F-4D97-AF65-F5344CB8AC3E}">
        <p14:creationId xmlns:p14="http://schemas.microsoft.com/office/powerpoint/2010/main" val="1654341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CEEE6-580E-6127-D088-7338A9A9C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8AB84-87D5-5C2A-5BE7-38B47A859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AD735-824C-906D-4994-3CFCA1CF2072}"/>
              </a:ext>
            </a:extLst>
          </p:cNvPr>
          <p:cNvSpPr>
            <a:spLocks noGrp="1"/>
          </p:cNvSpPr>
          <p:nvPr>
            <p:ph type="body" idx="1"/>
          </p:nvPr>
        </p:nvSpPr>
        <p:spPr/>
        <p:txBody>
          <a:bodyPr/>
          <a:lstStyle/>
          <a:p>
            <a:pPr marL="228600" indent="-228600">
              <a:buAutoNum type="arabicPeriod"/>
            </a:pPr>
            <a:r>
              <a:rPr lang="en-NZ" sz="1200" kern="1200" dirty="0">
                <a:solidFill>
                  <a:schemeClr val="tx1"/>
                </a:solidFill>
                <a:effectLst/>
                <a:latin typeface="+mn-lt"/>
                <a:ea typeface="+mn-ea"/>
                <a:cs typeface="+mn-cs"/>
              </a:rPr>
              <a:t>First, we need to extract the coordinates of the polygon boundaries and kiwifruit points from each XML file.</a:t>
            </a:r>
          </a:p>
          <a:p>
            <a:pPr marL="228600" indent="-228600">
              <a:buAutoNum type="arabicPeriod"/>
            </a:pPr>
            <a:r>
              <a:rPr lang="en-NZ" sz="1200" kern="1200" dirty="0">
                <a:solidFill>
                  <a:schemeClr val="tx1"/>
                </a:solidFill>
                <a:effectLst/>
                <a:latin typeface="+mn-lt"/>
                <a:ea typeface="+mn-ea"/>
                <a:cs typeface="+mn-cs"/>
              </a:rPr>
              <a:t>Next, we use the minimum bounding rectangle function from shapely to simplify complex shape of polygons. The corner coordinates can be used to define row length and width.</a:t>
            </a:r>
          </a:p>
          <a:p>
            <a:pPr marL="228600" indent="-228600">
              <a:buAutoNum type="arabicPeriod"/>
            </a:pPr>
            <a:r>
              <a:rPr lang="en-NZ" sz="1200" kern="1200" dirty="0">
                <a:solidFill>
                  <a:schemeClr val="tx1"/>
                </a:solidFill>
                <a:effectLst/>
                <a:latin typeface="+mn-lt"/>
                <a:ea typeface="+mn-ea"/>
                <a:cs typeface="+mn-cs"/>
              </a:rPr>
              <a:t>Then, we convert the GPS coordinates to projected coordinates for measurements of area and distance. </a:t>
            </a:r>
          </a:p>
          <a:p>
            <a:pPr marL="228600" indent="-228600">
              <a:buAutoNum type="arabicPeriod"/>
            </a:pPr>
            <a:r>
              <a:rPr lang="en-NZ" sz="1200" kern="1200" dirty="0">
                <a:solidFill>
                  <a:schemeClr val="tx1"/>
                </a:solidFill>
                <a:effectLst/>
                <a:latin typeface="+mn-lt"/>
                <a:ea typeface="+mn-ea"/>
                <a:cs typeface="+mn-cs"/>
              </a:rPr>
              <a:t>Last, we rotate and transform coordinates to X-Y origin system, for easy calculation</a:t>
            </a:r>
          </a:p>
          <a:p>
            <a:pPr marL="228600" indent="-228600">
              <a:buAutoNum type="arabicPeriod"/>
            </a:pPr>
            <a:r>
              <a:rPr lang="en-NZ" sz="1200" kern="1200" dirty="0">
                <a:solidFill>
                  <a:schemeClr val="tx1"/>
                </a:solidFill>
                <a:effectLst/>
                <a:latin typeface="+mn-lt"/>
                <a:ea typeface="+mn-ea"/>
                <a:cs typeface="+mn-cs"/>
              </a:rPr>
              <a:t>Once completed, we save the all results into parquet files for downstream tasks.</a:t>
            </a:r>
          </a:p>
          <a:p>
            <a:pPr marL="228600" indent="-228600">
              <a:buAutoNum type="arabicPeriod"/>
            </a:pPr>
            <a:endParaRPr lang="en-NZ" sz="1200" kern="1200" dirty="0">
              <a:solidFill>
                <a:schemeClr val="tx1"/>
              </a:solidFill>
              <a:effectLst/>
              <a:latin typeface="+mn-lt"/>
              <a:ea typeface="+mn-ea"/>
              <a:cs typeface="+mn-cs"/>
            </a:endParaRPr>
          </a:p>
          <a:p>
            <a:endParaRPr lang="en-NZ"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5684C94-96C3-6BD6-37E7-45D75D261D1B}"/>
              </a:ext>
            </a:extLst>
          </p:cNvPr>
          <p:cNvSpPr>
            <a:spLocks noGrp="1"/>
          </p:cNvSpPr>
          <p:nvPr>
            <p:ph type="sldNum" sz="quarter" idx="5"/>
          </p:nvPr>
        </p:nvSpPr>
        <p:spPr/>
        <p:txBody>
          <a:bodyPr/>
          <a:lstStyle/>
          <a:p>
            <a:fld id="{6C56FB27-F35C-934C-B3AB-9E6F6324AB45}" type="slidenum">
              <a:rPr lang="en-US" smtClean="0"/>
              <a:t>8</a:t>
            </a:fld>
            <a:endParaRPr lang="en-US"/>
          </a:p>
        </p:txBody>
      </p:sp>
    </p:spTree>
    <p:extLst>
      <p:ext uri="{BB962C8B-B14F-4D97-AF65-F5344CB8AC3E}">
        <p14:creationId xmlns:p14="http://schemas.microsoft.com/office/powerpoint/2010/main" val="2674266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C59AA-9343-F3B5-0AC1-A39309ADB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3C5AE-47EA-A167-3D58-EF57A4567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4C585-58EB-99CC-B6EC-68F27AEB2349}"/>
              </a:ext>
            </a:extLst>
          </p:cNvPr>
          <p:cNvSpPr>
            <a:spLocks noGrp="1"/>
          </p:cNvSpPr>
          <p:nvPr>
            <p:ph type="body" idx="1"/>
          </p:nvPr>
        </p:nvSpPr>
        <p:spPr/>
        <p:txBody>
          <a:bodyPr/>
          <a:lstStyle/>
          <a:p>
            <a:pPr marL="228600" indent="-228600">
              <a:buAutoNum type="arabicPeriod"/>
            </a:pPr>
            <a:r>
              <a:rPr lang="en-NZ" sz="1200" kern="1200" dirty="0">
                <a:solidFill>
                  <a:schemeClr val="tx1"/>
                </a:solidFill>
                <a:effectLst/>
                <a:latin typeface="+mn-lt"/>
                <a:ea typeface="+mn-ea"/>
                <a:cs typeface="+mn-cs"/>
              </a:rPr>
              <a:t>First, we need to extract the coordinates of the polygon boundaries and kiwifruit points from each XML file.</a:t>
            </a:r>
          </a:p>
          <a:p>
            <a:pPr marL="228600" indent="-228600">
              <a:buAutoNum type="arabicPeriod"/>
            </a:pPr>
            <a:r>
              <a:rPr lang="en-NZ" sz="1200" kern="1200" dirty="0">
                <a:solidFill>
                  <a:schemeClr val="tx1"/>
                </a:solidFill>
                <a:effectLst/>
                <a:latin typeface="+mn-lt"/>
                <a:ea typeface="+mn-ea"/>
                <a:cs typeface="+mn-cs"/>
              </a:rPr>
              <a:t>Next, we use the minimum bounding rectangle function from shapely to simplify complex shape of polygons. The corner coordinates can be used to define row length and width.</a:t>
            </a:r>
          </a:p>
          <a:p>
            <a:pPr marL="228600" indent="-228600">
              <a:buAutoNum type="arabicPeriod"/>
            </a:pPr>
            <a:r>
              <a:rPr lang="en-NZ" sz="1200" kern="1200" dirty="0">
                <a:solidFill>
                  <a:schemeClr val="tx1"/>
                </a:solidFill>
                <a:effectLst/>
                <a:latin typeface="+mn-lt"/>
                <a:ea typeface="+mn-ea"/>
                <a:cs typeface="+mn-cs"/>
              </a:rPr>
              <a:t>Then, we convert the GPS coordinates to projected coordinates for measurements of area and distance. </a:t>
            </a:r>
          </a:p>
          <a:p>
            <a:pPr marL="228600" indent="-228600">
              <a:buAutoNum type="arabicPeriod"/>
            </a:pPr>
            <a:r>
              <a:rPr lang="en-NZ" sz="1200" kern="1200" dirty="0">
                <a:solidFill>
                  <a:schemeClr val="tx1"/>
                </a:solidFill>
                <a:effectLst/>
                <a:latin typeface="+mn-lt"/>
                <a:ea typeface="+mn-ea"/>
                <a:cs typeface="+mn-cs"/>
              </a:rPr>
              <a:t>Last, we rotate and transform coordinates to X-Y origin system, for easy calculation</a:t>
            </a:r>
          </a:p>
          <a:p>
            <a:pPr marL="228600" indent="-228600">
              <a:buAutoNum type="arabicPeriod"/>
            </a:pPr>
            <a:r>
              <a:rPr lang="en-NZ" sz="1200" kern="1200" dirty="0">
                <a:solidFill>
                  <a:schemeClr val="tx1"/>
                </a:solidFill>
                <a:effectLst/>
                <a:latin typeface="+mn-lt"/>
                <a:ea typeface="+mn-ea"/>
                <a:cs typeface="+mn-cs"/>
              </a:rPr>
              <a:t>Once completed, we save the all results into parquet files for downstream tasks.</a:t>
            </a:r>
          </a:p>
          <a:p>
            <a:pPr marL="228600" indent="-228600">
              <a:buAutoNum type="arabicPeriod"/>
            </a:pPr>
            <a:endParaRPr lang="en-NZ" sz="1200" kern="1200" dirty="0">
              <a:solidFill>
                <a:schemeClr val="tx1"/>
              </a:solidFill>
              <a:effectLst/>
              <a:latin typeface="+mn-lt"/>
              <a:ea typeface="+mn-ea"/>
              <a:cs typeface="+mn-cs"/>
            </a:endParaRPr>
          </a:p>
          <a:p>
            <a:endParaRPr lang="en-NZ"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9AED3D3-5F63-AFC5-ED4D-3E80AEF27D4D}"/>
              </a:ext>
            </a:extLst>
          </p:cNvPr>
          <p:cNvSpPr>
            <a:spLocks noGrp="1"/>
          </p:cNvSpPr>
          <p:nvPr>
            <p:ph type="sldNum" sz="quarter" idx="5"/>
          </p:nvPr>
        </p:nvSpPr>
        <p:spPr/>
        <p:txBody>
          <a:bodyPr/>
          <a:lstStyle/>
          <a:p>
            <a:fld id="{6C56FB27-F35C-934C-B3AB-9E6F6324AB45}" type="slidenum">
              <a:rPr lang="en-US" smtClean="0"/>
              <a:t>9</a:t>
            </a:fld>
            <a:endParaRPr lang="en-US"/>
          </a:p>
        </p:txBody>
      </p:sp>
    </p:spTree>
    <p:extLst>
      <p:ext uri="{BB962C8B-B14F-4D97-AF65-F5344CB8AC3E}">
        <p14:creationId xmlns:p14="http://schemas.microsoft.com/office/powerpoint/2010/main" val="2962633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166815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98208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182281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FE104D6-B260-1840-9310-206DE34A7891}" type="datetimeFigureOut">
              <a:rPr lang="en-US" smtClean="0"/>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2888229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FE104D6-B260-1840-9310-206DE34A7891}" type="datetimeFigureOut">
              <a:rPr lang="en-US" smtClean="0"/>
              <a:t>10/13/25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2033620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FE104D6-B260-1840-9310-206DE34A7891}" type="datetimeFigureOut">
              <a:rPr lang="en-US" smtClean="0"/>
              <a:t>10/13/25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410648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E104D6-B260-1840-9310-206DE34A7891}" type="datetimeFigureOut">
              <a:rPr lang="en-US" smtClean="0"/>
              <a:t>10/13/25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968732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FE104D6-B260-1840-9310-206DE34A7891}" type="datetimeFigureOut">
              <a:rPr lang="en-US" smtClean="0"/>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1250523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FE104D6-B260-1840-9310-206DE34A7891}" type="datetimeFigureOut">
              <a:rPr lang="en-US" smtClean="0"/>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2498932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3345049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85499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3301839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74977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3752927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650461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FE104D6-B260-1840-9310-206DE34A7891}" type="datetimeFigureOut">
              <a:rPr lang="en-US" smtClean="0"/>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8050F-DC18-CF47-98B2-AF3607DD0DC2}" type="slidenum">
              <a:rPr lang="en-US" smtClean="0"/>
              <a:t>‹#›</a:t>
            </a:fld>
            <a:endParaRPr lang="en-US"/>
          </a:p>
        </p:txBody>
      </p:sp>
    </p:spTree>
    <p:extLst>
      <p:ext uri="{BB962C8B-B14F-4D97-AF65-F5344CB8AC3E}">
        <p14:creationId xmlns:p14="http://schemas.microsoft.com/office/powerpoint/2010/main" val="282835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E104D6-B260-1840-9310-206DE34A7891}" type="datetimeFigureOut">
              <a:rPr lang="en-US" smtClean="0"/>
              <a:t>10/13/25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D48050F-DC18-CF47-98B2-AF3607DD0DC2}" type="slidenum">
              <a:rPr lang="en-US" smtClean="0"/>
              <a:t>‹#›</a:t>
            </a:fld>
            <a:endParaRPr lang="en-US"/>
          </a:p>
        </p:txBody>
      </p:sp>
    </p:spTree>
    <p:extLst>
      <p:ext uri="{BB962C8B-B14F-4D97-AF65-F5344CB8AC3E}">
        <p14:creationId xmlns:p14="http://schemas.microsoft.com/office/powerpoint/2010/main" val="172766841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C38979E-9461-ADB7-80B0-48B491222B65}"/>
              </a:ext>
            </a:extLst>
          </p:cNvPr>
          <p:cNvPicPr>
            <a:picLocks noChangeAspect="1"/>
          </p:cNvPicPr>
          <p:nvPr/>
        </p:nvPicPr>
        <p:blipFill>
          <a:blip r:embed="rId3"/>
          <a:srcRect b="15625"/>
          <a:stretch/>
        </p:blipFill>
        <p:spPr>
          <a:xfrm>
            <a:off x="0" y="0"/>
            <a:ext cx="12192000" cy="6858000"/>
          </a:xfrm>
          <a:prstGeom prst="rect">
            <a:avLst/>
          </a:prstGeom>
        </p:spPr>
      </p:pic>
      <p:graphicFrame>
        <p:nvGraphicFramePr>
          <p:cNvPr id="4" name="Table 3">
            <a:extLst>
              <a:ext uri="{FF2B5EF4-FFF2-40B4-BE49-F238E27FC236}">
                <a16:creationId xmlns:a16="http://schemas.microsoft.com/office/drawing/2014/main" id="{41CDD890-99C6-A801-FC83-3302EABCC8CE}"/>
              </a:ext>
            </a:extLst>
          </p:cNvPr>
          <p:cNvGraphicFramePr>
            <a:graphicFrameLocks noGrp="1"/>
          </p:cNvGraphicFramePr>
          <p:nvPr>
            <p:extLst>
              <p:ext uri="{D42A27DB-BD31-4B8C-83A1-F6EECF244321}">
                <p14:modId xmlns:p14="http://schemas.microsoft.com/office/powerpoint/2010/main" val="847769266"/>
              </p:ext>
            </p:extLst>
          </p:nvPr>
        </p:nvGraphicFramePr>
        <p:xfrm>
          <a:off x="0" y="0"/>
          <a:ext cx="12192000" cy="6858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4584546"/>
                    </a:ext>
                  </a:extLst>
                </a:gridCol>
                <a:gridCol w="2032000">
                  <a:extLst>
                    <a:ext uri="{9D8B030D-6E8A-4147-A177-3AD203B41FA5}">
                      <a16:colId xmlns:a16="http://schemas.microsoft.com/office/drawing/2014/main" val="3290160090"/>
                    </a:ext>
                  </a:extLst>
                </a:gridCol>
                <a:gridCol w="2032000">
                  <a:extLst>
                    <a:ext uri="{9D8B030D-6E8A-4147-A177-3AD203B41FA5}">
                      <a16:colId xmlns:a16="http://schemas.microsoft.com/office/drawing/2014/main" val="1559117487"/>
                    </a:ext>
                  </a:extLst>
                </a:gridCol>
                <a:gridCol w="2032000">
                  <a:extLst>
                    <a:ext uri="{9D8B030D-6E8A-4147-A177-3AD203B41FA5}">
                      <a16:colId xmlns:a16="http://schemas.microsoft.com/office/drawing/2014/main" val="3635474645"/>
                    </a:ext>
                  </a:extLst>
                </a:gridCol>
                <a:gridCol w="2032000">
                  <a:extLst>
                    <a:ext uri="{9D8B030D-6E8A-4147-A177-3AD203B41FA5}">
                      <a16:colId xmlns:a16="http://schemas.microsoft.com/office/drawing/2014/main" val="1334024122"/>
                    </a:ext>
                  </a:extLst>
                </a:gridCol>
                <a:gridCol w="2032000">
                  <a:extLst>
                    <a:ext uri="{9D8B030D-6E8A-4147-A177-3AD203B41FA5}">
                      <a16:colId xmlns:a16="http://schemas.microsoft.com/office/drawing/2014/main" val="3672696901"/>
                    </a:ext>
                  </a:extLst>
                </a:gridCol>
              </a:tblGrid>
              <a:tr h="1371600">
                <a:tc>
                  <a:txBody>
                    <a:bodyPr/>
                    <a:lstStyle/>
                    <a:p>
                      <a:endParaRPr lang="en-US" dirty="0"/>
                    </a:p>
                  </a:txBody>
                  <a:tcP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03216285"/>
                  </a:ext>
                </a:extLst>
              </a:tr>
              <a:tr h="1371600">
                <a:tc>
                  <a:txBody>
                    <a:bodyPr/>
                    <a:lstStyle/>
                    <a:p>
                      <a:endParaRPr lang="en-US"/>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42452107"/>
                  </a:ext>
                </a:extLst>
              </a:tr>
              <a:tr h="1371600">
                <a:tc>
                  <a:txBody>
                    <a:bodyPr/>
                    <a:lstStyle/>
                    <a:p>
                      <a:endParaRPr lang="en-US" dirty="0"/>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72692310"/>
                  </a:ext>
                </a:extLst>
              </a:tr>
              <a:tr h="1371600">
                <a:tc>
                  <a:txBody>
                    <a:bodyPr/>
                    <a:lstStyle/>
                    <a:p>
                      <a:endParaRPr lang="en-US" dirty="0"/>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75344867"/>
                  </a:ext>
                </a:extLst>
              </a:tr>
              <a:tr h="1371600">
                <a:tc>
                  <a:txBody>
                    <a:bodyPr/>
                    <a:lstStyle/>
                    <a:p>
                      <a:endParaRPr lang="en-US" dirty="0"/>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solidFill>
                  </a:tcPr>
                </a:tc>
                <a:tc>
                  <a:txBody>
                    <a:bodyPr/>
                    <a:lstStyle/>
                    <a:p>
                      <a:endParaRPr lang="en-US"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06510410"/>
                  </a:ext>
                </a:extLst>
              </a:tr>
            </a:tbl>
          </a:graphicData>
        </a:graphic>
      </p:graphicFrame>
      <p:sp>
        <p:nvSpPr>
          <p:cNvPr id="11" name="Title 1">
            <a:extLst>
              <a:ext uri="{FF2B5EF4-FFF2-40B4-BE49-F238E27FC236}">
                <a16:creationId xmlns:a16="http://schemas.microsoft.com/office/drawing/2014/main" id="{1ACE05DF-BB97-F291-DFD7-31AB40BCE5BE}"/>
              </a:ext>
            </a:extLst>
          </p:cNvPr>
          <p:cNvSpPr>
            <a:spLocks noGrp="1"/>
          </p:cNvSpPr>
          <p:nvPr>
            <p:ph type="ctrTitle"/>
          </p:nvPr>
        </p:nvSpPr>
        <p:spPr>
          <a:xfrm>
            <a:off x="0" y="2799021"/>
            <a:ext cx="6096000" cy="1071230"/>
          </a:xfrm>
        </p:spPr>
        <p:txBody>
          <a:bodyPr>
            <a:normAutofit/>
          </a:bodyPr>
          <a:lstStyle/>
          <a:p>
            <a:r>
              <a:rPr lang="en-US" sz="2800" b="1" dirty="0" err="1">
                <a:latin typeface="Arial" panose="020B0604020202020204" pitchFamily="34" charset="0"/>
                <a:cs typeface="Arial" panose="020B0604020202020204" pitchFamily="34" charset="0"/>
              </a:rPr>
              <a:t>Optimising</a:t>
            </a:r>
            <a:r>
              <a:rPr lang="en-US" sz="2800" b="1" dirty="0">
                <a:latin typeface="Arial" panose="020B0604020202020204" pitchFamily="34" charset="0"/>
                <a:cs typeface="Arial" panose="020B0604020202020204" pitchFamily="34" charset="0"/>
              </a:rPr>
              <a:t> Sampling Strategy for Accurate Kiwifruit Yield Estimation</a:t>
            </a:r>
          </a:p>
        </p:txBody>
      </p:sp>
      <p:sp>
        <p:nvSpPr>
          <p:cNvPr id="13" name="Subtitle 2">
            <a:extLst>
              <a:ext uri="{FF2B5EF4-FFF2-40B4-BE49-F238E27FC236}">
                <a16:creationId xmlns:a16="http://schemas.microsoft.com/office/drawing/2014/main" id="{735917A9-7D4C-10F8-CB27-3B4D189155F1}"/>
              </a:ext>
            </a:extLst>
          </p:cNvPr>
          <p:cNvSpPr>
            <a:spLocks noGrp="1"/>
          </p:cNvSpPr>
          <p:nvPr>
            <p:ph type="subTitle" idx="1"/>
          </p:nvPr>
        </p:nvSpPr>
        <p:spPr>
          <a:xfrm>
            <a:off x="-130629" y="4417827"/>
            <a:ext cx="6226629" cy="1071230"/>
          </a:xfrm>
        </p:spPr>
        <p:txBody>
          <a:bodyPr>
            <a:normAutofit/>
          </a:bodyPr>
          <a:lstStyle/>
          <a:p>
            <a:r>
              <a:rPr lang="en-US" sz="1800" dirty="0">
                <a:latin typeface="Arial" panose="020B0604020202020204" pitchFamily="34" charset="0"/>
                <a:cs typeface="Arial" panose="020B0604020202020204" pitchFamily="34" charset="0"/>
              </a:rPr>
              <a:t>Presented by: Jeremy Chen</a:t>
            </a:r>
          </a:p>
        </p:txBody>
      </p:sp>
    </p:spTree>
    <p:extLst>
      <p:ext uri="{BB962C8B-B14F-4D97-AF65-F5344CB8AC3E}">
        <p14:creationId xmlns:p14="http://schemas.microsoft.com/office/powerpoint/2010/main" val="3838191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81B302A-3DA5-1306-471E-A906F012C739}"/>
              </a:ext>
            </a:extLst>
          </p:cNvPr>
          <p:cNvSpPr/>
          <p:nvPr/>
        </p:nvSpPr>
        <p:spPr>
          <a:xfrm>
            <a:off x="540000" y="0"/>
            <a:ext cx="5580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3E6235-E3D7-0F3A-A282-081E5BC3AD84}"/>
              </a:ext>
            </a:extLst>
          </p:cNvPr>
          <p:cNvSpPr>
            <a:spLocks noGrp="1"/>
          </p:cNvSpPr>
          <p:nvPr>
            <p:ph type="title"/>
          </p:nvPr>
        </p:nvSpPr>
        <p:spPr>
          <a:xfrm>
            <a:off x="0" y="180000"/>
            <a:ext cx="6120000" cy="744900"/>
          </a:xfrm>
        </p:spPr>
        <p:txBody>
          <a:bodyPr>
            <a:normAutofit fontScale="90000"/>
          </a:bodyPr>
          <a:lstStyle/>
          <a:p>
            <a:r>
              <a:rPr lang="en-US" b="1" dirty="0">
                <a:latin typeface="Arial" panose="020B0604020202020204" pitchFamily="34" charset="0"/>
                <a:cs typeface="Arial" panose="020B0604020202020204" pitchFamily="34" charset="0"/>
              </a:rPr>
              <a:t>	Current Sampling Strategy</a:t>
            </a:r>
          </a:p>
        </p:txBody>
      </p:sp>
      <p:sp>
        <p:nvSpPr>
          <p:cNvPr id="3" name="Content Placeholder 2">
            <a:extLst>
              <a:ext uri="{FF2B5EF4-FFF2-40B4-BE49-F238E27FC236}">
                <a16:creationId xmlns:a16="http://schemas.microsoft.com/office/drawing/2014/main" id="{FBCAEB74-D225-7C3E-99DA-DBD21AE34421}"/>
              </a:ext>
            </a:extLst>
          </p:cNvPr>
          <p:cNvSpPr>
            <a:spLocks noGrp="1"/>
          </p:cNvSpPr>
          <p:nvPr>
            <p:ph idx="1"/>
          </p:nvPr>
        </p:nvSpPr>
        <p:spPr>
          <a:xfrm>
            <a:off x="540000" y="1080000"/>
            <a:ext cx="4698700" cy="949800"/>
          </a:xfrm>
        </p:spPr>
        <p:txBody>
          <a:bodyPr>
            <a:normAutofit/>
          </a:bodyPr>
          <a:lstStyle/>
          <a:p>
            <a:r>
              <a:rPr lang="en-US" sz="2400" dirty="0">
                <a:latin typeface="Arial" panose="020B0604020202020204" pitchFamily="34" charset="0"/>
                <a:cs typeface="Arial" panose="020B0604020202020204" pitchFamily="34" charset="0"/>
              </a:rPr>
              <a:t>Digital Orchard Scanning technology</a:t>
            </a:r>
          </a:p>
        </p:txBody>
      </p:sp>
      <p:pic>
        <p:nvPicPr>
          <p:cNvPr id="10" name="Picture 9">
            <a:extLst>
              <a:ext uri="{FF2B5EF4-FFF2-40B4-BE49-F238E27FC236}">
                <a16:creationId xmlns:a16="http://schemas.microsoft.com/office/drawing/2014/main" id="{53BAFE68-4FCC-DA4D-A5BD-7F9EECAF06D4}"/>
              </a:ext>
            </a:extLst>
          </p:cNvPr>
          <p:cNvPicPr>
            <a:picLocks noChangeAspect="1"/>
          </p:cNvPicPr>
          <p:nvPr/>
        </p:nvPicPr>
        <p:blipFill>
          <a:blip r:embed="rId3"/>
          <a:srcRect/>
          <a:stretch/>
        </p:blipFill>
        <p:spPr>
          <a:xfrm>
            <a:off x="4856925" y="1104900"/>
            <a:ext cx="4533900" cy="3022600"/>
          </a:xfrm>
          <a:prstGeom prst="rect">
            <a:avLst/>
          </a:prstGeom>
        </p:spPr>
      </p:pic>
      <p:sp>
        <p:nvSpPr>
          <p:cNvPr id="12" name="TextBox 11">
            <a:extLst>
              <a:ext uri="{FF2B5EF4-FFF2-40B4-BE49-F238E27FC236}">
                <a16:creationId xmlns:a16="http://schemas.microsoft.com/office/drawing/2014/main" id="{99D0532E-FACF-5388-6353-4FA5429B9D73}"/>
              </a:ext>
            </a:extLst>
          </p:cNvPr>
          <p:cNvSpPr txBox="1"/>
          <p:nvPr/>
        </p:nvSpPr>
        <p:spPr>
          <a:xfrm>
            <a:off x="540000" y="3596300"/>
            <a:ext cx="4266900" cy="1205458"/>
          </a:xfrm>
          <a:prstGeom prst="rect">
            <a:avLst/>
          </a:prstGeom>
          <a:noFill/>
        </p:spPr>
        <p:txBody>
          <a:bodyPr wrap="square">
            <a:spAutoFit/>
          </a:bodyPr>
          <a:lstStyle/>
          <a:p>
            <a:pPr marL="457200" indent="-457200">
              <a:spcBef>
                <a:spcPts val="1000"/>
              </a:spcBef>
              <a:buClr>
                <a:schemeClr val="accent1"/>
              </a:buClr>
              <a:buSzPct val="80000"/>
              <a:buFont typeface="Wingdings 3" charset="2"/>
              <a:buChar char=""/>
            </a:pPr>
            <a:r>
              <a:rPr lang="en-US" sz="2400" dirty="0">
                <a:solidFill>
                  <a:schemeClr val="tx1">
                    <a:lumMod val="75000"/>
                    <a:lumOff val="25000"/>
                  </a:schemeClr>
                </a:solidFill>
                <a:latin typeface="Arial" panose="020B0604020202020204" pitchFamily="34" charset="0"/>
                <a:cs typeface="Arial" panose="020B0604020202020204" pitchFamily="34" charset="0"/>
              </a:rPr>
              <a:t>Research objective</a:t>
            </a:r>
          </a:p>
          <a:p>
            <a:pPr marL="800100" lvl="1" indent="-342900">
              <a:spcBef>
                <a:spcPts val="1000"/>
              </a:spcBef>
              <a:buClr>
                <a:schemeClr val="accent1"/>
              </a:buClr>
              <a:buSzPct val="80000"/>
              <a:buFont typeface="Wingdings 3" charset="2"/>
              <a:buChar char=""/>
            </a:pPr>
            <a:r>
              <a:rPr lang="en-US" sz="2000" dirty="0">
                <a:solidFill>
                  <a:schemeClr val="tx1">
                    <a:lumMod val="75000"/>
                    <a:lumOff val="25000"/>
                  </a:schemeClr>
                </a:solidFill>
                <a:latin typeface="Arial" panose="020B0604020202020204" pitchFamily="34" charset="0"/>
                <a:cs typeface="Arial" panose="020B0604020202020204" pitchFamily="34" charset="0"/>
              </a:rPr>
              <a:t>Investigation of cost-effective alternatives</a:t>
            </a:r>
          </a:p>
        </p:txBody>
      </p:sp>
      <p:sp>
        <p:nvSpPr>
          <p:cNvPr id="5" name="TextBox 4">
            <a:extLst>
              <a:ext uri="{FF2B5EF4-FFF2-40B4-BE49-F238E27FC236}">
                <a16:creationId xmlns:a16="http://schemas.microsoft.com/office/drawing/2014/main" id="{B5560A01-2B56-5D56-D64D-1EC1693044E1}"/>
              </a:ext>
            </a:extLst>
          </p:cNvPr>
          <p:cNvSpPr txBox="1"/>
          <p:nvPr/>
        </p:nvSpPr>
        <p:spPr>
          <a:xfrm>
            <a:off x="540000" y="1944749"/>
            <a:ext cx="4086429" cy="1272143"/>
          </a:xfrm>
          <a:prstGeom prst="rect">
            <a:avLst/>
          </a:prstGeom>
          <a:noFill/>
        </p:spPr>
        <p:txBody>
          <a:bodyPr wrap="square">
            <a:spAutoFit/>
          </a:bodyPr>
          <a:lstStyle/>
          <a:p>
            <a:pPr marL="800100" lvl="1" indent="-342900">
              <a:spcBef>
                <a:spcPts val="1000"/>
              </a:spcBef>
              <a:buClr>
                <a:schemeClr val="accent1"/>
              </a:buClr>
              <a:buSzPct val="80000"/>
              <a:buFont typeface="Wingdings 3" charset="2"/>
              <a:buChar char=""/>
            </a:pPr>
            <a:r>
              <a:rPr lang="en-US" sz="2000" dirty="0">
                <a:solidFill>
                  <a:schemeClr val="tx1">
                    <a:lumMod val="75000"/>
                    <a:lumOff val="25000"/>
                  </a:schemeClr>
                </a:solidFill>
                <a:latin typeface="Arial" panose="020B0604020202020204" pitchFamily="34" charset="0"/>
                <a:cs typeface="Arial" panose="020B0604020202020204" pitchFamily="34" charset="0"/>
              </a:rPr>
              <a:t>Full-width scanning</a:t>
            </a:r>
          </a:p>
          <a:p>
            <a:pPr marL="800100" lvl="1" indent="-342900">
              <a:spcBef>
                <a:spcPts val="1000"/>
              </a:spcBef>
              <a:buClr>
                <a:schemeClr val="accent1"/>
              </a:buClr>
              <a:buSzPct val="80000"/>
              <a:buFont typeface="Wingdings 3" charset="2"/>
              <a:buChar char=""/>
            </a:pPr>
            <a:r>
              <a:rPr lang="en-US" sz="2000" dirty="0">
                <a:solidFill>
                  <a:schemeClr val="tx1">
                    <a:lumMod val="75000"/>
                    <a:lumOff val="25000"/>
                  </a:schemeClr>
                </a:solidFill>
                <a:latin typeface="Arial" panose="020B0604020202020204" pitchFamily="34" charset="0"/>
                <a:cs typeface="Arial" panose="020B0604020202020204" pitchFamily="34" charset="0"/>
              </a:rPr>
              <a:t>High operational cost</a:t>
            </a:r>
          </a:p>
          <a:p>
            <a:pPr marL="800100" lvl="1" indent="-342900">
              <a:spcBef>
                <a:spcPts val="1000"/>
              </a:spcBef>
              <a:buClr>
                <a:schemeClr val="accent1"/>
              </a:buClr>
              <a:buSzPct val="80000"/>
              <a:buFont typeface="Wingdings 3" charset="2"/>
              <a:buChar char=""/>
            </a:pPr>
            <a:r>
              <a:rPr lang="en-US" sz="2000" dirty="0">
                <a:solidFill>
                  <a:schemeClr val="tx1">
                    <a:lumMod val="75000"/>
                    <a:lumOff val="25000"/>
                  </a:schemeClr>
                </a:solidFill>
                <a:latin typeface="Arial" panose="020B0604020202020204" pitchFamily="34" charset="0"/>
                <a:cs typeface="Arial" panose="020B0604020202020204" pitchFamily="34" charset="0"/>
              </a:rPr>
              <a:t>Limited scalability</a:t>
            </a:r>
          </a:p>
        </p:txBody>
      </p:sp>
    </p:spTree>
    <p:extLst>
      <p:ext uri="{BB962C8B-B14F-4D97-AF65-F5344CB8AC3E}">
        <p14:creationId xmlns:p14="http://schemas.microsoft.com/office/powerpoint/2010/main" val="411764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6F486D8-4075-237E-C8D9-32FC2FE4D21C}"/>
              </a:ext>
            </a:extLst>
          </p:cNvPr>
          <p:cNvSpPr/>
          <p:nvPr/>
        </p:nvSpPr>
        <p:spPr>
          <a:xfrm>
            <a:off x="557566" y="180000"/>
            <a:ext cx="6097234"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D19AD643-46A1-4BA3-9742-B97C607386D0}"/>
              </a:ext>
            </a:extLst>
          </p:cNvPr>
          <p:cNvSpPr>
            <a:spLocks noGrp="1"/>
          </p:cNvSpPr>
          <p:nvPr>
            <p:ph type="title"/>
          </p:nvPr>
        </p:nvSpPr>
        <p:spPr>
          <a:xfrm>
            <a:off x="0" y="180000"/>
            <a:ext cx="5289755" cy="683494"/>
          </a:xfrm>
        </p:spPr>
        <p:txBody>
          <a:bodyPr>
            <a:normAutofit/>
          </a:bodyPr>
          <a:lstStyle/>
          <a:p>
            <a:r>
              <a:rPr lang="en-US" sz="3200" b="1" dirty="0">
                <a:latin typeface="Arial" panose="020B0604020202020204" pitchFamily="34" charset="0"/>
                <a:cs typeface="Arial" panose="020B0604020202020204" pitchFamily="34" charset="0"/>
              </a:rPr>
              <a:t>	Raw Data</a:t>
            </a:r>
          </a:p>
        </p:txBody>
      </p:sp>
      <p:sp>
        <p:nvSpPr>
          <p:cNvPr id="13" name="Content Placeholder 12">
            <a:extLst>
              <a:ext uri="{FF2B5EF4-FFF2-40B4-BE49-F238E27FC236}">
                <a16:creationId xmlns:a16="http://schemas.microsoft.com/office/drawing/2014/main" id="{3BCA56DF-F0E5-6565-CBD9-95610901E267}"/>
              </a:ext>
            </a:extLst>
          </p:cNvPr>
          <p:cNvSpPr>
            <a:spLocks noGrp="1"/>
          </p:cNvSpPr>
          <p:nvPr>
            <p:ph idx="1"/>
          </p:nvPr>
        </p:nvSpPr>
        <p:spPr>
          <a:xfrm>
            <a:off x="6210833" y="2692010"/>
            <a:ext cx="3549179" cy="824713"/>
          </a:xfrm>
        </p:spPr>
        <p:txBody>
          <a:bodyPr>
            <a:normAutofit/>
          </a:bodyPr>
          <a:lstStyle/>
          <a:p>
            <a:r>
              <a:rPr lang="en-US" sz="2400" dirty="0">
                <a:latin typeface="Arial" panose="020B0604020202020204" pitchFamily="34" charset="0"/>
                <a:cs typeface="Arial" panose="020B0604020202020204" pitchFamily="34" charset="0"/>
              </a:rPr>
              <a:t>Stored in separated XML files</a:t>
            </a:r>
            <a:endParaRPr lang="en-US" sz="2800"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AE4F5940-EA89-F170-8A71-B81FD911D591}"/>
              </a:ext>
            </a:extLst>
          </p:cNvPr>
          <p:cNvPicPr>
            <a:picLocks noChangeAspect="1"/>
          </p:cNvPicPr>
          <p:nvPr/>
        </p:nvPicPr>
        <p:blipFill>
          <a:blip r:embed="rId3"/>
          <a:srcRect l="21357" t="16209" r="21194" b="16340"/>
          <a:stretch/>
        </p:blipFill>
        <p:spPr bwMode="auto">
          <a:xfrm>
            <a:off x="531825" y="783804"/>
            <a:ext cx="5679008" cy="5000865"/>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9FDB3FFF-641D-7398-C6D8-F94AC241CE4E}"/>
              </a:ext>
            </a:extLst>
          </p:cNvPr>
          <p:cNvSpPr txBox="1"/>
          <p:nvPr/>
        </p:nvSpPr>
        <p:spPr>
          <a:xfrm>
            <a:off x="6210834" y="1043494"/>
            <a:ext cx="3549179" cy="1200329"/>
          </a:xfrm>
          <a:prstGeom prst="rect">
            <a:avLst/>
          </a:prstGeom>
          <a:noFill/>
        </p:spPr>
        <p:txBody>
          <a:bodyPr wrap="square">
            <a:spAutoFit/>
          </a:bodyPr>
          <a:lstStyle/>
          <a:p>
            <a:pPr marL="342900" indent="-342900">
              <a:spcBef>
                <a:spcPts val="1000"/>
              </a:spcBef>
              <a:buClr>
                <a:schemeClr val="accent1"/>
              </a:buClr>
              <a:buSzPct val="80000"/>
              <a:buFont typeface="Wingdings 3" charset="2"/>
              <a:buChar char=""/>
            </a:pPr>
            <a:r>
              <a:rPr lang="en-US" sz="2400" dirty="0">
                <a:solidFill>
                  <a:schemeClr val="tx1">
                    <a:lumMod val="75000"/>
                    <a:lumOff val="25000"/>
                  </a:schemeClr>
                </a:solidFill>
                <a:latin typeface="Arial" panose="020B0604020202020204" pitchFamily="34" charset="0"/>
                <a:cs typeface="Arial" panose="020B0604020202020204" pitchFamily="34" charset="0"/>
              </a:rPr>
              <a:t>Geospatial location data (log, </a:t>
            </a:r>
            <a:r>
              <a:rPr lang="en-US" sz="2400" dirty="0" err="1">
                <a:solidFill>
                  <a:schemeClr val="tx1">
                    <a:lumMod val="75000"/>
                    <a:lumOff val="25000"/>
                  </a:schemeClr>
                </a:solidFill>
                <a:latin typeface="Arial" panose="020B0604020202020204" pitchFamily="34" charset="0"/>
                <a:cs typeface="Arial" panose="020B0604020202020204" pitchFamily="34" charset="0"/>
              </a:rPr>
              <a:t>lat</a:t>
            </a:r>
            <a:r>
              <a:rPr lang="en-US" sz="2400" dirty="0">
                <a:solidFill>
                  <a:schemeClr val="tx1">
                    <a:lumMod val="75000"/>
                    <a:lumOff val="25000"/>
                  </a:schemeClr>
                </a:solidFill>
                <a:latin typeface="Arial" panose="020B0604020202020204" pitchFamily="34" charset="0"/>
                <a:cs typeface="Arial" panose="020B0604020202020204" pitchFamily="34" charset="0"/>
              </a:rPr>
              <a:t> &amp; </a:t>
            </a:r>
            <a:r>
              <a:rPr lang="en-US" sz="2400" dirty="0" err="1">
                <a:solidFill>
                  <a:schemeClr val="tx1">
                    <a:lumMod val="75000"/>
                    <a:lumOff val="25000"/>
                  </a:schemeClr>
                </a:solidFill>
                <a:latin typeface="Arial" panose="020B0604020202020204" pitchFamily="34" charset="0"/>
                <a:cs typeface="Arial" panose="020B0604020202020204" pitchFamily="34" charset="0"/>
              </a:rPr>
              <a:t>ele</a:t>
            </a:r>
            <a:r>
              <a:rPr lang="en-US" sz="2400" dirty="0">
                <a:solidFill>
                  <a:schemeClr val="tx1">
                    <a:lumMod val="75000"/>
                    <a:lumOff val="25000"/>
                  </a:schemeClr>
                </a:solidFill>
                <a:latin typeface="Arial" panose="020B0604020202020204" pitchFamily="34" charset="0"/>
                <a:cs typeface="Arial" panose="020B0604020202020204" pitchFamily="34" charset="0"/>
              </a:rPr>
              <a:t>) for each sampled row</a:t>
            </a:r>
          </a:p>
        </p:txBody>
      </p:sp>
      <p:sp>
        <p:nvSpPr>
          <p:cNvPr id="5" name="TextBox 4">
            <a:extLst>
              <a:ext uri="{FF2B5EF4-FFF2-40B4-BE49-F238E27FC236}">
                <a16:creationId xmlns:a16="http://schemas.microsoft.com/office/drawing/2014/main" id="{C8EFFC88-55BF-C1FE-BA3A-8E61599EA676}"/>
              </a:ext>
            </a:extLst>
          </p:cNvPr>
          <p:cNvSpPr txBox="1"/>
          <p:nvPr/>
        </p:nvSpPr>
        <p:spPr>
          <a:xfrm>
            <a:off x="6210836" y="3714821"/>
            <a:ext cx="3549179" cy="1569660"/>
          </a:xfrm>
          <a:prstGeom prst="rect">
            <a:avLst/>
          </a:prstGeom>
          <a:noFill/>
        </p:spPr>
        <p:txBody>
          <a:bodyPr wrap="square">
            <a:spAutoFit/>
          </a:bodyPr>
          <a:lstStyle/>
          <a:p>
            <a:pPr marL="342900" indent="-342900">
              <a:spcBef>
                <a:spcPts val="1000"/>
              </a:spcBef>
              <a:buClr>
                <a:schemeClr val="accent1"/>
              </a:buClr>
              <a:buSzPct val="80000"/>
              <a:buFont typeface="Wingdings 3" charset="2"/>
              <a:buChar char=""/>
            </a:pPr>
            <a:r>
              <a:rPr lang="en-US" sz="2400" dirty="0">
                <a:solidFill>
                  <a:schemeClr val="tx1">
                    <a:lumMod val="75000"/>
                    <a:lumOff val="25000"/>
                  </a:schemeClr>
                </a:solidFill>
                <a:latin typeface="Arial" panose="020B0604020202020204" pitchFamily="34" charset="0"/>
                <a:cs typeface="Arial" panose="020B0604020202020204" pitchFamily="34" charset="0"/>
              </a:rPr>
              <a:t>Extremely large number of points distributed across orchards</a:t>
            </a:r>
          </a:p>
        </p:txBody>
      </p:sp>
    </p:spTree>
    <p:extLst>
      <p:ext uri="{BB962C8B-B14F-4D97-AF65-F5344CB8AC3E}">
        <p14:creationId xmlns:p14="http://schemas.microsoft.com/office/powerpoint/2010/main" val="385046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anim calcmode="lin" valueType="num">
                                      <p:cBhvr additive="base">
                                        <p:cTn id="19"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3"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79A91-E8F7-2BE5-1A57-15623F3DFAAB}"/>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7790E35C-4634-3C6D-AE4B-7C95902365E6}"/>
              </a:ext>
            </a:extLst>
          </p:cNvPr>
          <p:cNvSpPr>
            <a:spLocks noGrp="1"/>
          </p:cNvSpPr>
          <p:nvPr>
            <p:ph type="title"/>
          </p:nvPr>
        </p:nvSpPr>
        <p:spPr>
          <a:xfrm>
            <a:off x="0" y="180000"/>
            <a:ext cx="4550735" cy="633473"/>
          </a:xfrm>
        </p:spPr>
        <p:txBody>
          <a:bodyPr>
            <a:normAutofit fontScale="90000"/>
          </a:bodyPr>
          <a:lstStyle/>
          <a:p>
            <a:r>
              <a:rPr lang="en-US" b="1" dirty="0">
                <a:latin typeface="Arial" panose="020B0604020202020204" pitchFamily="34" charset="0"/>
                <a:cs typeface="Arial" panose="020B0604020202020204" pitchFamily="34" charset="0"/>
              </a:rPr>
              <a:t>	Data Processing</a:t>
            </a:r>
          </a:p>
        </p:txBody>
      </p:sp>
      <p:pic>
        <p:nvPicPr>
          <p:cNvPr id="15" name="Content Placeholder 14">
            <a:extLst>
              <a:ext uri="{FF2B5EF4-FFF2-40B4-BE49-F238E27FC236}">
                <a16:creationId xmlns:a16="http://schemas.microsoft.com/office/drawing/2014/main" id="{EC005EFA-0C3F-D2CC-D18C-8E38243AA853}"/>
              </a:ext>
            </a:extLst>
          </p:cNvPr>
          <p:cNvPicPr>
            <a:picLocks noGrp="1" noChangeAspect="1"/>
          </p:cNvPicPr>
          <p:nvPr>
            <p:ph idx="1"/>
          </p:nvPr>
        </p:nvPicPr>
        <p:blipFill>
          <a:blip r:embed="rId3"/>
          <a:srcRect/>
          <a:stretch/>
        </p:blipFill>
        <p:spPr>
          <a:xfrm>
            <a:off x="629999" y="1497473"/>
            <a:ext cx="6848829" cy="5136622"/>
          </a:xfrm>
        </p:spPr>
      </p:pic>
      <p:sp>
        <p:nvSpPr>
          <p:cNvPr id="27" name="Content Placeholder 2">
            <a:extLst>
              <a:ext uri="{FF2B5EF4-FFF2-40B4-BE49-F238E27FC236}">
                <a16:creationId xmlns:a16="http://schemas.microsoft.com/office/drawing/2014/main" id="{FB860427-5E0D-92F7-ACC1-3DE03E684B9C}"/>
              </a:ext>
            </a:extLst>
          </p:cNvPr>
          <p:cNvSpPr txBox="1">
            <a:spLocks/>
          </p:cNvSpPr>
          <p:nvPr/>
        </p:nvSpPr>
        <p:spPr>
          <a:xfrm>
            <a:off x="630000" y="864000"/>
            <a:ext cx="7480000" cy="6334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latin typeface="Arial" panose="020B0604020202020204" pitchFamily="34" charset="0"/>
                <a:cs typeface="Arial" panose="020B0604020202020204" pitchFamily="34" charset="0"/>
              </a:rPr>
              <a:t>Data preprocessing pipeline</a:t>
            </a:r>
          </a:p>
        </p:txBody>
      </p:sp>
    </p:spTree>
    <p:extLst>
      <p:ext uri="{BB962C8B-B14F-4D97-AF65-F5344CB8AC3E}">
        <p14:creationId xmlns:p14="http://schemas.microsoft.com/office/powerpoint/2010/main" val="928337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8F0572-C6A6-C020-64BF-55795C4BE51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8" name="Picture 1">
            <a:extLst>
              <a:ext uri="{FF2B5EF4-FFF2-40B4-BE49-F238E27FC236}">
                <a16:creationId xmlns:a16="http://schemas.microsoft.com/office/drawing/2014/main" id="{E41258AE-EED3-5E6A-EA6E-10FEC34196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387" y="1102500"/>
            <a:ext cx="8359275" cy="437425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2DA20F99-F63F-1B6B-C543-62C8792C69A4}"/>
              </a:ext>
            </a:extLst>
          </p:cNvPr>
          <p:cNvSpPr txBox="1">
            <a:spLocks/>
          </p:cNvSpPr>
          <p:nvPr/>
        </p:nvSpPr>
        <p:spPr>
          <a:xfrm>
            <a:off x="0" y="4638"/>
            <a:ext cx="6570947" cy="51680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latin typeface="Arial" panose="020B0604020202020204" pitchFamily="34" charset="0"/>
                <a:cs typeface="Arial" panose="020B0604020202020204" pitchFamily="34" charset="0"/>
              </a:rPr>
              <a:t>Visual example of data preprocessing</a:t>
            </a:r>
          </a:p>
        </p:txBody>
      </p:sp>
    </p:spTree>
    <p:extLst>
      <p:ext uri="{BB962C8B-B14F-4D97-AF65-F5344CB8AC3E}">
        <p14:creationId xmlns:p14="http://schemas.microsoft.com/office/powerpoint/2010/main" val="3080598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3DD6-0812-9327-50C1-8BD0EE4AE71B}"/>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AE4C43B2-FF7D-D6B0-D4BD-71E1D8694013}"/>
              </a:ext>
            </a:extLst>
          </p:cNvPr>
          <p:cNvSpPr>
            <a:spLocks noGrp="1"/>
          </p:cNvSpPr>
          <p:nvPr>
            <p:ph type="title"/>
          </p:nvPr>
        </p:nvSpPr>
        <p:spPr>
          <a:xfrm>
            <a:off x="-1" y="180000"/>
            <a:ext cx="6924907" cy="633473"/>
          </a:xfrm>
        </p:spPr>
        <p:txBody>
          <a:bodyPr>
            <a:normAutofit fontScale="90000"/>
          </a:bodyPr>
          <a:lstStyle/>
          <a:p>
            <a:r>
              <a:rPr lang="en-US" b="1" dirty="0">
                <a:latin typeface="Arial" panose="020B0604020202020204" pitchFamily="34" charset="0"/>
                <a:cs typeface="Arial" panose="020B0604020202020204" pitchFamily="34" charset="0"/>
              </a:rPr>
              <a:t>	EDA &amp; FEATURE EXTRACTION</a:t>
            </a:r>
          </a:p>
        </p:txBody>
      </p:sp>
      <p:sp>
        <p:nvSpPr>
          <p:cNvPr id="27" name="Content Placeholder 2">
            <a:extLst>
              <a:ext uri="{FF2B5EF4-FFF2-40B4-BE49-F238E27FC236}">
                <a16:creationId xmlns:a16="http://schemas.microsoft.com/office/drawing/2014/main" id="{EABB7D4E-370E-C153-6024-5E2F211E1260}"/>
              </a:ext>
            </a:extLst>
          </p:cNvPr>
          <p:cNvSpPr txBox="1">
            <a:spLocks/>
          </p:cNvSpPr>
          <p:nvPr/>
        </p:nvSpPr>
        <p:spPr>
          <a:xfrm>
            <a:off x="782400" y="1393780"/>
            <a:ext cx="7480000" cy="6334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latin typeface="Arial" panose="020B0604020202020204" pitchFamily="34" charset="0"/>
                <a:cs typeface="Arial" panose="020B0604020202020204" pitchFamily="34" charset="0"/>
              </a:rPr>
              <a:t>Geometric features: row length, width, area</a:t>
            </a:r>
          </a:p>
        </p:txBody>
      </p:sp>
      <p:sp>
        <p:nvSpPr>
          <p:cNvPr id="10" name="Content Placeholder 2">
            <a:extLst>
              <a:ext uri="{FF2B5EF4-FFF2-40B4-BE49-F238E27FC236}">
                <a16:creationId xmlns:a16="http://schemas.microsoft.com/office/drawing/2014/main" id="{CF2D49EF-2866-E796-C4F4-B6BC22FB5761}"/>
              </a:ext>
            </a:extLst>
          </p:cNvPr>
          <p:cNvSpPr txBox="1">
            <a:spLocks/>
          </p:cNvSpPr>
          <p:nvPr/>
        </p:nvSpPr>
        <p:spPr>
          <a:xfrm>
            <a:off x="782399" y="2607561"/>
            <a:ext cx="7982459" cy="6334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latin typeface="Arial" panose="020B0604020202020204" pitchFamily="34" charset="0"/>
                <a:cs typeface="Arial" panose="020B0604020202020204" pitchFamily="34" charset="0"/>
              </a:rPr>
              <a:t>Point based features: # of points, row density</a:t>
            </a:r>
            <a:endParaRPr lang="en-NZ" dirty="0"/>
          </a:p>
        </p:txBody>
      </p:sp>
    </p:spTree>
    <p:extLst>
      <p:ext uri="{BB962C8B-B14F-4D97-AF65-F5344CB8AC3E}">
        <p14:creationId xmlns:p14="http://schemas.microsoft.com/office/powerpoint/2010/main" val="273436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B497F6-CF0A-6CAB-E78A-4F24241A7F87}"/>
              </a:ext>
            </a:extLst>
          </p:cNvPr>
          <p:cNvPicPr>
            <a:picLocks noChangeAspect="1"/>
          </p:cNvPicPr>
          <p:nvPr/>
        </p:nvPicPr>
        <p:blipFill>
          <a:blip r:embed="rId3"/>
          <a:srcRect t="159" b="17319"/>
          <a:stretch/>
        </p:blipFill>
        <p:spPr>
          <a:xfrm>
            <a:off x="629997" y="1422644"/>
            <a:ext cx="7207838" cy="4461045"/>
          </a:xfrm>
          <a:prstGeom prst="rect">
            <a:avLst/>
          </a:prstGeom>
        </p:spPr>
      </p:pic>
      <p:sp>
        <p:nvSpPr>
          <p:cNvPr id="10" name="Title 1">
            <a:extLst>
              <a:ext uri="{FF2B5EF4-FFF2-40B4-BE49-F238E27FC236}">
                <a16:creationId xmlns:a16="http://schemas.microsoft.com/office/drawing/2014/main" id="{1F01F2ED-392B-9786-C67F-478FCB457456}"/>
              </a:ext>
            </a:extLst>
          </p:cNvPr>
          <p:cNvSpPr>
            <a:spLocks noGrp="1"/>
          </p:cNvSpPr>
          <p:nvPr>
            <p:ph type="title"/>
          </p:nvPr>
        </p:nvSpPr>
        <p:spPr>
          <a:xfrm>
            <a:off x="0" y="180000"/>
            <a:ext cx="3795823" cy="683494"/>
          </a:xfrm>
        </p:spPr>
        <p:txBody>
          <a:bodyPr>
            <a:normAutofit/>
          </a:bodyPr>
          <a:lstStyle/>
          <a:p>
            <a:r>
              <a:rPr lang="en-US" sz="3200" b="1" dirty="0">
                <a:latin typeface="Arial" panose="020B0604020202020204" pitchFamily="34" charset="0"/>
                <a:cs typeface="Arial" panose="020B0604020202020204" pitchFamily="34" charset="0"/>
              </a:rPr>
              <a:t>	Methods</a:t>
            </a:r>
          </a:p>
        </p:txBody>
      </p:sp>
      <p:sp>
        <p:nvSpPr>
          <p:cNvPr id="3" name="Content Placeholder 2">
            <a:extLst>
              <a:ext uri="{FF2B5EF4-FFF2-40B4-BE49-F238E27FC236}">
                <a16:creationId xmlns:a16="http://schemas.microsoft.com/office/drawing/2014/main" id="{2564C6F4-A3DD-E6BF-571C-4B8338F1EFFB}"/>
              </a:ext>
            </a:extLst>
          </p:cNvPr>
          <p:cNvSpPr>
            <a:spLocks noGrp="1"/>
          </p:cNvSpPr>
          <p:nvPr>
            <p:ph idx="1"/>
          </p:nvPr>
        </p:nvSpPr>
        <p:spPr>
          <a:xfrm>
            <a:off x="630000" y="864000"/>
            <a:ext cx="7480000" cy="558644"/>
          </a:xfrm>
        </p:spPr>
        <p:txBody>
          <a:bodyPr>
            <a:normAutofit/>
          </a:bodyPr>
          <a:lstStyle/>
          <a:p>
            <a:r>
              <a:rPr lang="en-US" sz="2400" dirty="0">
                <a:latin typeface="Arial" panose="020B0604020202020204" pitchFamily="34" charset="0"/>
                <a:cs typeface="Arial" panose="020B0604020202020204" pitchFamily="34" charset="0"/>
              </a:rPr>
              <a:t>Quadrat Sampling</a:t>
            </a:r>
          </a:p>
        </p:txBody>
      </p:sp>
      <p:sp>
        <p:nvSpPr>
          <p:cNvPr id="15" name="TextBox 14">
            <a:extLst>
              <a:ext uri="{FF2B5EF4-FFF2-40B4-BE49-F238E27FC236}">
                <a16:creationId xmlns:a16="http://schemas.microsoft.com/office/drawing/2014/main" id="{092EBC2C-6A28-6A69-0A4D-642947AA4DB6}"/>
              </a:ext>
            </a:extLst>
          </p:cNvPr>
          <p:cNvSpPr txBox="1"/>
          <p:nvPr/>
        </p:nvSpPr>
        <p:spPr>
          <a:xfrm>
            <a:off x="629994" y="2087546"/>
            <a:ext cx="6102350" cy="461665"/>
          </a:xfrm>
          <a:prstGeom prst="rect">
            <a:avLst/>
          </a:prstGeom>
          <a:noFill/>
        </p:spPr>
        <p:txBody>
          <a:bodyPr wrap="square">
            <a:spAutoFit/>
          </a:bodyPr>
          <a:lstStyle/>
          <a:p>
            <a:pPr marL="342900" indent="-342900">
              <a:spcBef>
                <a:spcPts val="1000"/>
              </a:spcBef>
              <a:buClr>
                <a:schemeClr val="accent1"/>
              </a:buClr>
              <a:buSzPct val="80000"/>
              <a:buFont typeface="Wingdings 3" charset="2"/>
              <a:buChar char=""/>
            </a:pPr>
            <a:r>
              <a:rPr lang="en-US" sz="2400" dirty="0">
                <a:solidFill>
                  <a:schemeClr val="tx1">
                    <a:lumMod val="75000"/>
                    <a:lumOff val="25000"/>
                  </a:schemeClr>
                </a:solidFill>
                <a:latin typeface="Arial" panose="020B0604020202020204" pitchFamily="34" charset="0"/>
                <a:cs typeface="Arial" panose="020B0604020202020204" pitchFamily="34" charset="0"/>
              </a:rPr>
              <a:t>Row-Centre-Only Sampling</a:t>
            </a:r>
          </a:p>
        </p:txBody>
      </p:sp>
      <p:pic>
        <p:nvPicPr>
          <p:cNvPr id="17" name="Picture 16">
            <a:extLst>
              <a:ext uri="{FF2B5EF4-FFF2-40B4-BE49-F238E27FC236}">
                <a16:creationId xmlns:a16="http://schemas.microsoft.com/office/drawing/2014/main" id="{EB825104-526E-1725-5219-2856AD6BCB1B}"/>
              </a:ext>
            </a:extLst>
          </p:cNvPr>
          <p:cNvPicPr>
            <a:picLocks noChangeAspect="1"/>
          </p:cNvPicPr>
          <p:nvPr/>
        </p:nvPicPr>
        <p:blipFill>
          <a:blip r:embed="rId4"/>
          <a:srcRect l="5800" t="39803" r="7271" b="29508"/>
          <a:stretch/>
        </p:blipFill>
        <p:spPr>
          <a:xfrm>
            <a:off x="629994" y="3107855"/>
            <a:ext cx="7207838" cy="2035717"/>
          </a:xfrm>
          <a:prstGeom prst="rect">
            <a:avLst/>
          </a:prstGeom>
        </p:spPr>
      </p:pic>
      <p:sp>
        <p:nvSpPr>
          <p:cNvPr id="19" name="TextBox 18">
            <a:extLst>
              <a:ext uri="{FF2B5EF4-FFF2-40B4-BE49-F238E27FC236}">
                <a16:creationId xmlns:a16="http://schemas.microsoft.com/office/drawing/2014/main" id="{E37A56E0-DA86-0ADB-1F7B-1E60622A4C33}"/>
              </a:ext>
            </a:extLst>
          </p:cNvPr>
          <p:cNvSpPr txBox="1"/>
          <p:nvPr/>
        </p:nvSpPr>
        <p:spPr>
          <a:xfrm>
            <a:off x="629994" y="3549601"/>
            <a:ext cx="7207837" cy="1333698"/>
          </a:xfrm>
          <a:prstGeom prst="rect">
            <a:avLst/>
          </a:prstGeom>
          <a:noFill/>
        </p:spPr>
        <p:txBody>
          <a:bodyPr wrap="square">
            <a:spAutoFit/>
          </a:bodyPr>
          <a:lstStyle/>
          <a:p>
            <a:pPr marL="342900" indent="-342900">
              <a:spcBef>
                <a:spcPts val="1000"/>
              </a:spcBef>
              <a:buClr>
                <a:schemeClr val="accent1"/>
              </a:buClr>
              <a:buSzPct val="80000"/>
              <a:buFont typeface="Wingdings 3" charset="2"/>
              <a:buChar char=""/>
            </a:pPr>
            <a:r>
              <a:rPr lang="en-US" sz="2400" dirty="0">
                <a:solidFill>
                  <a:schemeClr val="tx1">
                    <a:lumMod val="75000"/>
                    <a:lumOff val="25000"/>
                  </a:schemeClr>
                </a:solidFill>
                <a:latin typeface="Arial" panose="020B0604020202020204" pitchFamily="34" charset="0"/>
                <a:cs typeface="Arial" panose="020B0604020202020204" pitchFamily="34" charset="0"/>
              </a:rPr>
              <a:t>Machine Learning Integration</a:t>
            </a:r>
          </a:p>
          <a:p>
            <a:pPr marL="800100" lvl="1" indent="-342900">
              <a:spcBef>
                <a:spcPts val="1000"/>
              </a:spcBef>
              <a:buClr>
                <a:schemeClr val="accent1"/>
              </a:buClr>
              <a:buSzPct val="80000"/>
              <a:buFont typeface="Wingdings 3" charset="2"/>
              <a:buChar char=""/>
            </a:pPr>
            <a:r>
              <a:rPr lang="en-US" sz="2000" dirty="0">
                <a:solidFill>
                  <a:schemeClr val="tx1">
                    <a:lumMod val="75000"/>
                    <a:lumOff val="25000"/>
                  </a:schemeClr>
                </a:solidFill>
                <a:latin typeface="Arial" panose="020B0604020202020204" pitchFamily="34" charset="0"/>
                <a:cs typeface="Arial" panose="020B0604020202020204" pitchFamily="34" charset="0"/>
              </a:rPr>
              <a:t>Feature engineering</a:t>
            </a:r>
          </a:p>
          <a:p>
            <a:pPr marL="800100" lvl="1" indent="-342900">
              <a:spcBef>
                <a:spcPts val="1000"/>
              </a:spcBef>
              <a:buClr>
                <a:schemeClr val="accent1"/>
              </a:buClr>
              <a:buSzPct val="80000"/>
              <a:buFont typeface="Wingdings 3" charset="2"/>
              <a:buChar char=""/>
            </a:pPr>
            <a:r>
              <a:rPr lang="en-US" sz="2000" dirty="0">
                <a:solidFill>
                  <a:schemeClr val="tx1">
                    <a:lumMod val="75000"/>
                    <a:lumOff val="25000"/>
                  </a:schemeClr>
                </a:solidFill>
                <a:latin typeface="Arial" panose="020B0604020202020204" pitchFamily="34" charset="0"/>
                <a:cs typeface="Arial" panose="020B0604020202020204" pitchFamily="34" charset="0"/>
              </a:rPr>
              <a:t>Model selection</a:t>
            </a:r>
          </a:p>
        </p:txBody>
      </p:sp>
    </p:spTree>
    <p:extLst>
      <p:ext uri="{BB962C8B-B14F-4D97-AF65-F5344CB8AC3E}">
        <p14:creationId xmlns:p14="http://schemas.microsoft.com/office/powerpoint/2010/main" val="1841457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xit" presetSubtype="0" fill="hold" nodeType="clickEffect">
                                  <p:stCondLst>
                                    <p:cond delay="0"/>
                                  </p:stCondLst>
                                  <p:childTnLst>
                                    <p:animEffect transition="out" filter="dissolv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ppt_x"/>
                                          </p:val>
                                        </p:tav>
                                        <p:tav tm="100000">
                                          <p:val>
                                            <p:strVal val="#ppt_x"/>
                                          </p:val>
                                        </p:tav>
                                      </p:tavLst>
                                    </p:anim>
                                    <p:anim calcmode="lin" valueType="num">
                                      <p:cBhvr additive="base">
                                        <p:cTn id="2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500" fill="hold"/>
                                        <p:tgtEl>
                                          <p:spTgt spid="17"/>
                                        </p:tgtEl>
                                        <p:attrNameLst>
                                          <p:attrName>ppt_x</p:attrName>
                                        </p:attrNameLst>
                                      </p:cBhvr>
                                      <p:tavLst>
                                        <p:tav tm="0">
                                          <p:val>
                                            <p:strVal val="#ppt_x"/>
                                          </p:val>
                                        </p:tav>
                                        <p:tav tm="100000">
                                          <p:val>
                                            <p:strVal val="#ppt_x"/>
                                          </p:val>
                                        </p:tav>
                                      </p:tavLst>
                                    </p:anim>
                                    <p:anim calcmode="lin" valueType="num">
                                      <p:cBhvr additive="base">
                                        <p:cTn id="3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9" presetClass="exit" presetSubtype="0" fill="hold" nodeType="clickEffect">
                                  <p:stCondLst>
                                    <p:cond delay="0"/>
                                  </p:stCondLst>
                                  <p:childTnLst>
                                    <p:animEffect transition="out" filter="dissolve">
                                      <p:cBhvr>
                                        <p:cTn id="35" dur="500"/>
                                        <p:tgtEl>
                                          <p:spTgt spid="17"/>
                                        </p:tgtEl>
                                      </p:cBhvr>
                                    </p:animEffect>
                                    <p:set>
                                      <p:cBhvr>
                                        <p:cTn id="36" dur="1" fill="hold">
                                          <p:stCondLst>
                                            <p:cond delay="499"/>
                                          </p:stCondLst>
                                        </p:cTn>
                                        <p:tgtEl>
                                          <p:spTgt spid="1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3DEBC-883F-5A6B-4AB8-30E1475A06F3}"/>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A68FA0FD-14E8-39AC-0C73-F488AD7CAB02}"/>
              </a:ext>
            </a:extLst>
          </p:cNvPr>
          <p:cNvSpPr>
            <a:spLocks noGrp="1"/>
          </p:cNvSpPr>
          <p:nvPr>
            <p:ph type="title"/>
          </p:nvPr>
        </p:nvSpPr>
        <p:spPr>
          <a:xfrm>
            <a:off x="-1" y="180000"/>
            <a:ext cx="6924907" cy="633473"/>
          </a:xfrm>
        </p:spPr>
        <p:txBody>
          <a:bodyPr>
            <a:normAutofit fontScale="90000"/>
          </a:bodyPr>
          <a:lstStyle/>
          <a:p>
            <a:r>
              <a:rPr lang="en-US" b="1" dirty="0">
                <a:latin typeface="Arial" panose="020B0604020202020204" pitchFamily="34" charset="0"/>
                <a:cs typeface="Arial" panose="020B0604020202020204" pitchFamily="34" charset="0"/>
              </a:rPr>
              <a:t>	DATA ENGINEERING</a:t>
            </a:r>
          </a:p>
        </p:txBody>
      </p:sp>
      <p:sp>
        <p:nvSpPr>
          <p:cNvPr id="27" name="Content Placeholder 2">
            <a:extLst>
              <a:ext uri="{FF2B5EF4-FFF2-40B4-BE49-F238E27FC236}">
                <a16:creationId xmlns:a16="http://schemas.microsoft.com/office/drawing/2014/main" id="{57CB4BB8-35B4-8E45-4C54-2C38C444F4B3}"/>
              </a:ext>
            </a:extLst>
          </p:cNvPr>
          <p:cNvSpPr txBox="1">
            <a:spLocks/>
          </p:cNvSpPr>
          <p:nvPr/>
        </p:nvSpPr>
        <p:spPr>
          <a:xfrm>
            <a:off x="782399" y="813473"/>
            <a:ext cx="8406205" cy="2408786"/>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latin typeface="Arial" panose="020B0604020202020204" pitchFamily="34" charset="0"/>
                <a:cs typeface="Arial" panose="020B0604020202020204" pitchFamily="34" charset="0"/>
              </a:rPr>
              <a:t>Quadrat sampling features: </a:t>
            </a:r>
          </a:p>
          <a:p>
            <a:pPr lvl="1"/>
            <a:r>
              <a:rPr lang="en-US" sz="2000" dirty="0">
                <a:latin typeface="Arial" panose="020B0604020202020204" pitchFamily="34" charset="0"/>
                <a:cs typeface="Arial" panose="020B0604020202020204" pitchFamily="34" charset="0"/>
              </a:rPr>
              <a:t>avg quadrat density</a:t>
            </a:r>
          </a:p>
          <a:p>
            <a:pPr lvl="1"/>
            <a:r>
              <a:rPr lang="en-US" sz="2000" dirty="0">
                <a:latin typeface="Arial" panose="020B0604020202020204" pitchFamily="34" charset="0"/>
                <a:cs typeface="Arial" panose="020B0604020202020204" pitchFamily="34" charset="0"/>
              </a:rPr>
              <a:t>avg distance of quadrat centroid to row central line</a:t>
            </a:r>
          </a:p>
          <a:p>
            <a:pPr lvl="1"/>
            <a:r>
              <a:rPr lang="en-US" sz="2000" dirty="0">
                <a:latin typeface="Arial" panose="020B0604020202020204" pitchFamily="34" charset="0"/>
                <a:cs typeface="Arial" panose="020B0604020202020204" pitchFamily="34" charset="0"/>
              </a:rPr>
              <a:t>mean X coords of quadrat centroid</a:t>
            </a:r>
          </a:p>
          <a:p>
            <a:pPr lvl="1"/>
            <a:r>
              <a:rPr lang="en-US" sz="2000" dirty="0">
                <a:latin typeface="Arial" panose="020B0604020202020204" pitchFamily="34" charset="0"/>
                <a:cs typeface="Arial" panose="020B0604020202020204" pitchFamily="34" charset="0"/>
              </a:rPr>
              <a:t>std X coords of quadrat centroid</a:t>
            </a:r>
          </a:p>
          <a:p>
            <a:pPr lvl="1"/>
            <a:r>
              <a:rPr lang="en-US" sz="2000" dirty="0">
                <a:latin typeface="Arial" panose="020B0604020202020204" pitchFamily="34" charset="0"/>
                <a:cs typeface="Arial" panose="020B0604020202020204" pitchFamily="34" charset="0"/>
              </a:rPr>
              <a:t>quadrat size to row width ratio</a:t>
            </a:r>
          </a:p>
        </p:txBody>
      </p:sp>
      <p:sp>
        <p:nvSpPr>
          <p:cNvPr id="10" name="Content Placeholder 2">
            <a:extLst>
              <a:ext uri="{FF2B5EF4-FFF2-40B4-BE49-F238E27FC236}">
                <a16:creationId xmlns:a16="http://schemas.microsoft.com/office/drawing/2014/main" id="{AEBF8815-BE10-5FD7-A1E4-1AA87B79BC96}"/>
              </a:ext>
            </a:extLst>
          </p:cNvPr>
          <p:cNvSpPr txBox="1">
            <a:spLocks/>
          </p:cNvSpPr>
          <p:nvPr/>
        </p:nvSpPr>
        <p:spPr>
          <a:xfrm>
            <a:off x="782399" y="3222259"/>
            <a:ext cx="7480000" cy="145764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AU" sz="2400" dirty="0">
                <a:latin typeface="Arial" panose="020B0604020202020204" pitchFamily="34" charset="0"/>
                <a:cs typeface="Arial" panose="020B0604020202020204" pitchFamily="34" charset="0"/>
              </a:rPr>
              <a:t>Row centre sampling feature:</a:t>
            </a:r>
          </a:p>
          <a:p>
            <a:pPr lvl="1"/>
            <a:r>
              <a:rPr lang="en-AU" sz="2000" dirty="0">
                <a:latin typeface="Arial" panose="020B0604020202020204" pitchFamily="34" charset="0"/>
                <a:cs typeface="Arial" panose="020B0604020202020204" pitchFamily="34" charset="0"/>
              </a:rPr>
              <a:t>row centre area to entire row area ratio</a:t>
            </a:r>
          </a:p>
          <a:p>
            <a:pPr lvl="1"/>
            <a:r>
              <a:rPr lang="en-NZ" sz="2000" dirty="0">
                <a:latin typeface="Arial" panose="020B0604020202020204" pitchFamily="34" charset="0"/>
                <a:cs typeface="Arial" panose="020B0604020202020204" pitchFamily="34" charset="0"/>
              </a:rPr>
              <a:t>row centre density</a:t>
            </a:r>
          </a:p>
        </p:txBody>
      </p:sp>
      <p:sp>
        <p:nvSpPr>
          <p:cNvPr id="2" name="Content Placeholder 2">
            <a:extLst>
              <a:ext uri="{FF2B5EF4-FFF2-40B4-BE49-F238E27FC236}">
                <a16:creationId xmlns:a16="http://schemas.microsoft.com/office/drawing/2014/main" id="{1F5D3D44-91E2-F3BD-9473-3604416BF442}"/>
              </a:ext>
            </a:extLst>
          </p:cNvPr>
          <p:cNvSpPr txBox="1">
            <a:spLocks/>
          </p:cNvSpPr>
          <p:nvPr/>
        </p:nvSpPr>
        <p:spPr>
          <a:xfrm>
            <a:off x="782399" y="5065059"/>
            <a:ext cx="7480000" cy="5659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AU" sz="2400" dirty="0">
                <a:latin typeface="Arial" panose="020B0604020202020204" pitchFamily="34" charset="0"/>
                <a:cs typeface="Arial" panose="020B0604020202020204" pitchFamily="34" charset="0"/>
              </a:rPr>
              <a:t>Target: Actual density</a:t>
            </a:r>
          </a:p>
        </p:txBody>
      </p:sp>
    </p:spTree>
    <p:extLst>
      <p:ext uri="{BB962C8B-B14F-4D97-AF65-F5344CB8AC3E}">
        <p14:creationId xmlns:p14="http://schemas.microsoft.com/office/powerpoint/2010/main" val="474337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5DD32-8E68-818A-5678-C607D7BD0E27}"/>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91F3BA50-E603-1CCC-DA7B-8D378497027F}"/>
              </a:ext>
            </a:extLst>
          </p:cNvPr>
          <p:cNvSpPr>
            <a:spLocks noGrp="1"/>
          </p:cNvSpPr>
          <p:nvPr>
            <p:ph type="title"/>
          </p:nvPr>
        </p:nvSpPr>
        <p:spPr>
          <a:xfrm>
            <a:off x="-1" y="180000"/>
            <a:ext cx="8262401" cy="633473"/>
          </a:xfrm>
        </p:spPr>
        <p:txBody>
          <a:bodyPr>
            <a:normAutofit fontScale="90000"/>
          </a:bodyPr>
          <a:lstStyle/>
          <a:p>
            <a:r>
              <a:rPr lang="en-US" b="1" dirty="0">
                <a:latin typeface="Arial" panose="020B0604020202020204" pitchFamily="34" charset="0"/>
                <a:cs typeface="Arial" panose="020B0604020202020204" pitchFamily="34" charset="0"/>
              </a:rPr>
              <a:t>	MODEL &amp; PERFORMANCE METRICS</a:t>
            </a:r>
          </a:p>
        </p:txBody>
      </p:sp>
      <p:sp>
        <p:nvSpPr>
          <p:cNvPr id="27" name="Content Placeholder 2">
            <a:extLst>
              <a:ext uri="{FF2B5EF4-FFF2-40B4-BE49-F238E27FC236}">
                <a16:creationId xmlns:a16="http://schemas.microsoft.com/office/drawing/2014/main" id="{D929CFD8-3CA4-1BA6-0107-4F1B28A17C1C}"/>
              </a:ext>
            </a:extLst>
          </p:cNvPr>
          <p:cNvSpPr txBox="1">
            <a:spLocks/>
          </p:cNvSpPr>
          <p:nvPr/>
        </p:nvSpPr>
        <p:spPr>
          <a:xfrm>
            <a:off x="782400" y="813473"/>
            <a:ext cx="7480000" cy="191857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latin typeface="Arial" panose="020B0604020202020204" pitchFamily="34" charset="0"/>
                <a:cs typeface="Arial" panose="020B0604020202020204" pitchFamily="34" charset="0"/>
              </a:rPr>
              <a:t>Linear Regression </a:t>
            </a:r>
          </a:p>
          <a:p>
            <a:pPr lvl="1"/>
            <a:r>
              <a:rPr lang="en-US" sz="2000" dirty="0">
                <a:latin typeface="Arial" panose="020B0604020202020204" pitchFamily="34" charset="0"/>
                <a:cs typeface="Arial" panose="020B0604020202020204" pitchFamily="34" charset="0"/>
              </a:rPr>
              <a:t>simple and interpretability</a:t>
            </a:r>
          </a:p>
          <a:p>
            <a:r>
              <a:rPr lang="en-US" sz="2400" dirty="0">
                <a:latin typeface="Arial" panose="020B0604020202020204" pitchFamily="34" charset="0"/>
                <a:cs typeface="Arial" panose="020B0604020202020204" pitchFamily="34" charset="0"/>
              </a:rPr>
              <a:t>Random Forest </a:t>
            </a:r>
          </a:p>
          <a:p>
            <a:pPr lvl="1"/>
            <a:r>
              <a:rPr lang="en-US" sz="2000" dirty="0">
                <a:latin typeface="Arial" panose="020B0604020202020204" pitchFamily="34" charset="0"/>
                <a:cs typeface="Arial" panose="020B0604020202020204" pitchFamily="34" charset="0"/>
              </a:rPr>
              <a:t>handling complex, non-linear relationship </a:t>
            </a:r>
          </a:p>
          <a:p>
            <a:endParaRPr lang="en-US" sz="2200"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38400D29-D589-5C49-8388-C8CDD3F01D42}"/>
              </a:ext>
            </a:extLst>
          </p:cNvPr>
          <p:cNvSpPr txBox="1">
            <a:spLocks/>
          </p:cNvSpPr>
          <p:nvPr/>
        </p:nvSpPr>
        <p:spPr>
          <a:xfrm>
            <a:off x="782400" y="3754815"/>
            <a:ext cx="7982459" cy="191857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latin typeface="Arial" panose="020B0604020202020204" pitchFamily="34" charset="0"/>
                <a:cs typeface="Arial" panose="020B0604020202020204" pitchFamily="34" charset="0"/>
              </a:rPr>
              <a:t>Metrics</a:t>
            </a:r>
          </a:p>
          <a:p>
            <a:pPr lvl="1"/>
            <a:r>
              <a:rPr lang="en-NZ" sz="2000" dirty="0">
                <a:latin typeface="Arial" panose="020B0604020202020204" pitchFamily="34" charset="0"/>
                <a:cs typeface="Arial" panose="020B0604020202020204" pitchFamily="34" charset="0"/>
              </a:rPr>
              <a:t>Root Mean Squared Error (RMSE)</a:t>
            </a:r>
          </a:p>
          <a:p>
            <a:pPr lvl="1"/>
            <a:r>
              <a:rPr lang="en-NZ" sz="2000" dirty="0">
                <a:latin typeface="Arial" panose="020B0604020202020204" pitchFamily="34" charset="0"/>
                <a:cs typeface="Arial" panose="020B0604020202020204" pitchFamily="34" charset="0"/>
              </a:rPr>
              <a:t>Coefficient of Determination (R²)</a:t>
            </a:r>
          </a:p>
        </p:txBody>
      </p:sp>
    </p:spTree>
    <p:extLst>
      <p:ext uri="{BB962C8B-B14F-4D97-AF65-F5344CB8AC3E}">
        <p14:creationId xmlns:p14="http://schemas.microsoft.com/office/powerpoint/2010/main" val="3577588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1898"/>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E1AD8-04F7-4F40-A37B-216CDCF0748F}"/>
              </a:ext>
            </a:extLst>
          </p:cNvPr>
          <p:cNvSpPr>
            <a:spLocks noGrp="1"/>
          </p:cNvSpPr>
          <p:nvPr>
            <p:ph type="title"/>
          </p:nvPr>
        </p:nvSpPr>
        <p:spPr>
          <a:xfrm>
            <a:off x="677334" y="1845547"/>
            <a:ext cx="8596668" cy="1320800"/>
          </a:xfrm>
        </p:spPr>
        <p:txBody>
          <a:bodyPr>
            <a:normAutofit/>
          </a:bodyPr>
          <a:lstStyle/>
          <a:p>
            <a:pPr algn="ctr"/>
            <a:r>
              <a:rPr lang="en-US" sz="6000" dirty="0">
                <a:solidFill>
                  <a:schemeClr val="tx1"/>
                </a:solidFill>
                <a:latin typeface="Arial" panose="020B0604020202020204" pitchFamily="34" charset="0"/>
                <a:cs typeface="Arial" panose="020B0604020202020204" pitchFamily="34" charset="0"/>
              </a:rPr>
              <a:t>Thank you</a:t>
            </a:r>
          </a:p>
        </p:txBody>
      </p:sp>
      <p:sp>
        <p:nvSpPr>
          <p:cNvPr id="3" name="Content Placeholder 2">
            <a:extLst>
              <a:ext uri="{FF2B5EF4-FFF2-40B4-BE49-F238E27FC236}">
                <a16:creationId xmlns:a16="http://schemas.microsoft.com/office/drawing/2014/main" id="{8FE1A02C-EFAF-36EE-F0AC-C55B5487B55E}"/>
              </a:ext>
            </a:extLst>
          </p:cNvPr>
          <p:cNvSpPr>
            <a:spLocks noGrp="1"/>
          </p:cNvSpPr>
          <p:nvPr>
            <p:ph idx="1"/>
          </p:nvPr>
        </p:nvSpPr>
        <p:spPr>
          <a:xfrm>
            <a:off x="677334" y="3798471"/>
            <a:ext cx="8596668" cy="1979332"/>
          </a:xfrm>
        </p:spPr>
        <p:txBody>
          <a:bodyPr>
            <a:normAutofit/>
          </a:bodyPr>
          <a:lstStyle/>
          <a:p>
            <a:pPr marL="0" indent="0" algn="ctr">
              <a:buNone/>
            </a:pPr>
            <a:r>
              <a:rPr lang="en-US" sz="2400" dirty="0">
                <a:latin typeface="Arial" panose="020B0604020202020204" pitchFamily="34" charset="0"/>
                <a:cs typeface="Arial" panose="020B0604020202020204" pitchFamily="34" charset="0"/>
              </a:rPr>
              <a:t>Any Questions?</a:t>
            </a:r>
          </a:p>
        </p:txBody>
      </p:sp>
    </p:spTree>
    <p:extLst>
      <p:ext uri="{BB962C8B-B14F-4D97-AF65-F5344CB8AC3E}">
        <p14:creationId xmlns:p14="http://schemas.microsoft.com/office/powerpoint/2010/main" val="360862637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7EAB4DF-2B31-774A-B08B-E5BDAE1EFDC5}">
  <we:reference id="wa200005566" version="3.0.0.2" store="en-GB"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{B8D6FE05-0E5D-2A46-8593-8EE325D72A01}tf10001060</Template>
  <TotalTime>26930</TotalTime>
  <Words>771</Words>
  <Application>Microsoft Macintosh PowerPoint</Application>
  <PresentationFormat>Widescreen</PresentationFormat>
  <Paragraphs>76</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Trebuchet MS</vt:lpstr>
      <vt:lpstr>Wingdings 3</vt:lpstr>
      <vt:lpstr>Facet</vt:lpstr>
      <vt:lpstr>Optimising Sampling Strategy for Accurate Kiwifruit Yield Estimation</vt:lpstr>
      <vt:lpstr> Current Sampling Strategy</vt:lpstr>
      <vt:lpstr> Raw Data</vt:lpstr>
      <vt:lpstr> Data Processing</vt:lpstr>
      <vt:lpstr>PowerPoint Presentation</vt:lpstr>
      <vt:lpstr> EDA &amp; FEATURE EXTRACTION</vt:lpstr>
      <vt:lpstr> Methods</vt:lpstr>
      <vt:lpstr> DATA ENGINEERING</vt:lpstr>
      <vt:lpstr> MODEL &amp; PERFORMANCE METRICS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Chen</dc:creator>
  <cp:lastModifiedBy>Jeremy Chen</cp:lastModifiedBy>
  <cp:revision>9</cp:revision>
  <dcterms:created xsi:type="dcterms:W3CDTF">2025-01-19T22:29:44Z</dcterms:created>
  <dcterms:modified xsi:type="dcterms:W3CDTF">2025-10-20T09:37:17Z</dcterms:modified>
</cp:coreProperties>
</file>